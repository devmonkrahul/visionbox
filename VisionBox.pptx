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8" name="Google Shape;35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fa11fc667_0_3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efa11fc667_0_3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6" name="Google Shape;46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0" name="Google Shape;51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efa11fc667_0_9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efa11fc667_0_9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7" name="Google Shape;57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6" name="Google Shape;62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6" name="Google Shape;66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6" name="Google Shape;70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f29c8b18f6_0_37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3" name="Google Shape;733;g3f29c8b18f6_0_3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9c8b18f6_7_0)">
  <p:cSld name="Generated (g3f29c8b18f6_7_0)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2.jpg"/><Relationship Id="rId6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4.jpg"/><Relationship Id="rId8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4.jpg"/><Relationship Id="rId6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47.png"/><Relationship Id="rId6" Type="http://schemas.openxmlformats.org/officeDocument/2006/relationships/image" Target="../media/image33.png"/><Relationship Id="rId7" Type="http://schemas.openxmlformats.org/officeDocument/2006/relationships/image" Target="../media/image15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20.png"/><Relationship Id="rId6" Type="http://schemas.openxmlformats.org/officeDocument/2006/relationships/image" Target="../media/image23.png"/><Relationship Id="rId7" Type="http://schemas.openxmlformats.org/officeDocument/2006/relationships/image" Target="../media/image10.png"/><Relationship Id="rId8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Relationship Id="rId10" Type="http://schemas.openxmlformats.org/officeDocument/2006/relationships/image" Target="../media/image38.png"/><Relationship Id="rId9" Type="http://schemas.openxmlformats.org/officeDocument/2006/relationships/image" Target="../media/image37.png"/><Relationship Id="rId5" Type="http://schemas.openxmlformats.org/officeDocument/2006/relationships/image" Target="../media/image29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41.png"/><Relationship Id="rId7" Type="http://schemas.openxmlformats.org/officeDocument/2006/relationships/image" Target="../media/image36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4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1.png"/><Relationship Id="rId6" Type="http://schemas.openxmlformats.org/officeDocument/2006/relationships/image" Target="../media/image21.png"/><Relationship Id="rId7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Relationship Id="rId5" Type="http://schemas.openxmlformats.org/officeDocument/2006/relationships/image" Target="../media/image41.png"/><Relationship Id="rId6" Type="http://schemas.openxmlformats.org/officeDocument/2006/relationships/image" Target="../media/image36.png"/><Relationship Id="rId7" Type="http://schemas.openxmlformats.org/officeDocument/2006/relationships/image" Target="../media/image35.png"/><Relationship Id="rId8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36.png"/><Relationship Id="rId6" Type="http://schemas.openxmlformats.org/officeDocument/2006/relationships/image" Target="../media/image45.png"/><Relationship Id="rId7" Type="http://schemas.openxmlformats.org/officeDocument/2006/relationships/image" Target="../media/image49.png"/><Relationship Id="rId8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Relationship Id="rId4" Type="http://schemas.openxmlformats.org/officeDocument/2006/relationships/image" Target="../media/image21.png"/><Relationship Id="rId5" Type="http://schemas.openxmlformats.org/officeDocument/2006/relationships/image" Target="../media/image53.png"/><Relationship Id="rId6" Type="http://schemas.openxmlformats.org/officeDocument/2006/relationships/image" Target="../media/image35.png"/><Relationship Id="rId7" Type="http://schemas.openxmlformats.org/officeDocument/2006/relationships/image" Target="../media/image49.png"/><Relationship Id="rId8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4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3.png"/><Relationship Id="rId4" Type="http://schemas.openxmlformats.org/officeDocument/2006/relationships/image" Target="../media/image6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build/assets/bg/scene.png" id="13" name="Google Shape;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5240" y="1417320"/>
            <a:ext cx="393192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"/>
          <p:cNvSpPr/>
          <p:nvPr/>
        </p:nvSpPr>
        <p:spPr>
          <a:xfrm>
            <a:off x="7635240" y="1417320"/>
            <a:ext cx="3931920" cy="4023360"/>
          </a:xfrm>
          <a:prstGeom prst="roundRect">
            <a:avLst>
              <a:gd fmla="val 2791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4"/>
          <p:cNvSpPr/>
          <p:nvPr/>
        </p:nvSpPr>
        <p:spPr>
          <a:xfrm>
            <a:off x="777240" y="123444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COMPUTER VISION  ·  YOLOv11  ·  STREAMLIT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731520" y="1600200"/>
            <a:ext cx="6766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>
            <a:off x="777240" y="292608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AI-Powered </a:t>
            </a:r>
            <a:r>
              <a:rPr b="1" i="0" lang="en-US" sz="2600" u="none" cap="none" strike="noStrike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Animal &amp; Pose</a:t>
            </a: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Detection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777240" y="3611880"/>
            <a:ext cx="6126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BE9D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E9D8"/>
                </a:solidFill>
                <a:latin typeface="Calibri"/>
                <a:ea typeface="Calibri"/>
                <a:cs typeface="Calibri"/>
                <a:sym typeface="Calibri"/>
              </a:rPr>
              <a:t>Detect what an animal is — and what it's doing — from a single image, using a fine-tuned YOLOv11 model wrapped in a simple web app.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777240" y="4709160"/>
            <a:ext cx="45720" cy="713232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960120" y="4709160"/>
            <a:ext cx="5943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beginner-friendly Computer Vision project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github.com/devMonkRahul/VisionBox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7726680" y="1508760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7726680" y="150876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11201400" y="1508760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11434572" y="150876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7726680" y="5308092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7726680" y="507492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11201400" y="5308092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1434572" y="507492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6005" y="3429000"/>
            <a:ext cx="1616994" cy="16169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4"/>
          <p:cNvGrpSpPr/>
          <p:nvPr/>
        </p:nvGrpSpPr>
        <p:grpSpPr>
          <a:xfrm>
            <a:off x="8138160" y="1946789"/>
            <a:ext cx="2176272" cy="2314315"/>
            <a:chOff x="8138160" y="1946789"/>
            <a:chExt cx="2176272" cy="2314315"/>
          </a:xfrm>
        </p:grpSpPr>
        <p:pic>
          <p:nvPicPr>
            <p:cNvPr id="31" name="Google Shape;31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38160" y="2084832"/>
              <a:ext cx="2176272" cy="217627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" name="Google Shape;32;p4"/>
            <p:cNvGrpSpPr/>
            <p:nvPr/>
          </p:nvGrpSpPr>
          <p:grpSpPr>
            <a:xfrm>
              <a:off x="8497270" y="1946789"/>
              <a:ext cx="1680665" cy="2132093"/>
              <a:chOff x="8533638" y="1942587"/>
              <a:chExt cx="1680665" cy="2132093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8550926" y="2204941"/>
                <a:ext cx="1663377" cy="1869739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00B45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34" name="Google Shape;34;p4"/>
              <p:cNvGrpSpPr/>
              <p:nvPr/>
            </p:nvGrpSpPr>
            <p:grpSpPr>
              <a:xfrm>
                <a:off x="8533638" y="1942587"/>
                <a:ext cx="1289304" cy="258405"/>
                <a:chOff x="6990588" y="655995"/>
                <a:chExt cx="1289304" cy="258405"/>
              </a:xfrm>
            </p:grpSpPr>
            <p:sp>
              <p:nvSpPr>
                <p:cNvPr id="35" name="Google Shape;35;p4"/>
                <p:cNvSpPr/>
                <p:nvPr/>
              </p:nvSpPr>
              <p:spPr>
                <a:xfrm>
                  <a:off x="6990588" y="660197"/>
                  <a:ext cx="1289304" cy="246888"/>
                </a:xfrm>
                <a:prstGeom prst="rect">
                  <a:avLst/>
                </a:prstGeom>
                <a:solidFill>
                  <a:srgbClr val="00B45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" name="Google Shape;36;p4"/>
                <p:cNvSpPr/>
                <p:nvPr/>
              </p:nvSpPr>
              <p:spPr>
                <a:xfrm>
                  <a:off x="6990588" y="655995"/>
                  <a:ext cx="1289304" cy="25840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000"/>
                    <a:buFont typeface="Arial"/>
                    <a:buNone/>
                  </a:pPr>
                  <a:r>
                    <a:rPr b="1" i="0" lang="en-US" sz="10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dog (sit)  0.94</a:t>
                  </a:r>
                  <a:endParaRPr b="0" i="0" sz="1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7" name="Google Shape;37;p4"/>
          <p:cNvGrpSpPr/>
          <p:nvPr/>
        </p:nvGrpSpPr>
        <p:grpSpPr>
          <a:xfrm>
            <a:off x="9732838" y="3106547"/>
            <a:ext cx="1298258" cy="401780"/>
            <a:chOff x="8215551" y="215162"/>
            <a:chExt cx="1298258" cy="401780"/>
          </a:xfrm>
        </p:grpSpPr>
        <p:sp>
          <p:nvSpPr>
            <p:cNvPr id="38" name="Google Shape;38;p4"/>
            <p:cNvSpPr/>
            <p:nvPr/>
          </p:nvSpPr>
          <p:spPr>
            <a:xfrm>
              <a:off x="8337873" y="292608"/>
              <a:ext cx="1133441" cy="246888"/>
            </a:xfrm>
            <a:prstGeom prst="rect">
              <a:avLst/>
            </a:prstGeom>
            <a:solidFill>
              <a:srgbClr val="00B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215551" y="215162"/>
              <a:ext cx="1298258" cy="401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cat (laying)  0.88</a:t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4"/>
          <p:cNvSpPr/>
          <p:nvPr/>
        </p:nvSpPr>
        <p:spPr>
          <a:xfrm>
            <a:off x="9871363" y="3433157"/>
            <a:ext cx="1297701" cy="149546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What is VisionBox?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40080" y="1554480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50"/>
              <a:buFont typeface="Calibri"/>
              <a:buNone/>
            </a:pPr>
            <a:r>
              <a:rPr lang="en-US" sz="15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VisionBox is a hands-on Computer Vision app that lets you upload a photo and instantly see which animals are in it, the pose each one is in, and how confident the model is — all through a clean Streamlit web interface, with no training required from the user.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640080" y="3063240"/>
            <a:ext cx="64008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868680" y="3337560"/>
            <a:ext cx="420624" cy="420624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grad_g.png" id="51" name="Google Shape;5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42" y="3446922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5"/>
          <p:cNvSpPr/>
          <p:nvPr/>
        </p:nvSpPr>
        <p:spPr>
          <a:xfrm>
            <a:off x="1463040" y="3209544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Made for beginners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463040" y="352044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Designed for engineering students learning OpenCV for the first time.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40080" y="4142232"/>
            <a:ext cx="64008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868680" y="4416552"/>
            <a:ext cx="420624" cy="420624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bolt_g.png" id="56" name="Google Shape;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42" y="4525914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/>
          <p:nvPr/>
        </p:nvSpPr>
        <p:spPr>
          <a:xfrm>
            <a:off x="1463040" y="4288536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Workshop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463040" y="4599432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 the app, upload an image, and understand detection end-to-end in one session.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5221224"/>
            <a:ext cx="64008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68680" y="5495544"/>
            <a:ext cx="420624" cy="420624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robot_g.png" id="61" name="Google Shape;6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8042" y="5604906"/>
            <a:ext cx="201900" cy="2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5"/>
          <p:cNvSpPr/>
          <p:nvPr/>
        </p:nvSpPr>
        <p:spPr>
          <a:xfrm>
            <a:off x="1463040" y="5367528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Fine-tuned YOLOv11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463040" y="5678424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Uses a YOLOv11 nano model adapted to a custom animals dataset — ready to run.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bg/scene.png" id="64" name="Google Shape;6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35240" y="1691640"/>
            <a:ext cx="393192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7635240" y="1691640"/>
            <a:ext cx="3931920" cy="3566160"/>
          </a:xfrm>
          <a:prstGeom prst="roundRect">
            <a:avLst>
              <a:gd fmla="val 3077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7726680" y="1783080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726680" y="178308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11201400" y="1783080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11434572" y="178308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7726680" y="5125212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7726680" y="489204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11201400" y="5125212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11434572" y="489204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635240" y="532180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photo in → labelled animals + poses out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80472" y="2579281"/>
            <a:ext cx="1735282" cy="173528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5"/>
          <p:cNvSpPr/>
          <p:nvPr/>
        </p:nvSpPr>
        <p:spPr>
          <a:xfrm>
            <a:off x="8298430" y="2684182"/>
            <a:ext cx="1510588" cy="160435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" name="Google Shape;79;p5"/>
          <p:cNvGrpSpPr/>
          <p:nvPr/>
        </p:nvGrpSpPr>
        <p:grpSpPr>
          <a:xfrm>
            <a:off x="8282845" y="2413427"/>
            <a:ext cx="1439266" cy="255118"/>
            <a:chOff x="8828303" y="54864"/>
            <a:chExt cx="1439266" cy="255118"/>
          </a:xfrm>
        </p:grpSpPr>
        <p:sp>
          <p:nvSpPr>
            <p:cNvPr id="80" name="Google Shape;80;p5"/>
            <p:cNvSpPr/>
            <p:nvPr/>
          </p:nvSpPr>
          <p:spPr>
            <a:xfrm>
              <a:off x="8828303" y="63094"/>
              <a:ext cx="1439266" cy="246888"/>
            </a:xfrm>
            <a:prstGeom prst="rect">
              <a:avLst/>
            </a:prstGeom>
            <a:solidFill>
              <a:srgbClr val="00B45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8828303" y="54864"/>
              <a:ext cx="1439266" cy="24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50"/>
                <a:buFont typeface="Arial"/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 (stand)  0.92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2" name="Google Shape;82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38240" y="3498037"/>
            <a:ext cx="1394003" cy="1394003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10136332" y="3648822"/>
            <a:ext cx="623039" cy="76773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5"/>
          <p:cNvGrpSpPr/>
          <p:nvPr/>
        </p:nvGrpSpPr>
        <p:grpSpPr>
          <a:xfrm>
            <a:off x="10115260" y="3446922"/>
            <a:ext cx="644112" cy="201900"/>
            <a:chOff x="9314327" y="26078"/>
            <a:chExt cx="989381" cy="256964"/>
          </a:xfrm>
        </p:grpSpPr>
        <p:sp>
          <p:nvSpPr>
            <p:cNvPr id="85" name="Google Shape;85;p5"/>
            <p:cNvSpPr/>
            <p:nvPr/>
          </p:nvSpPr>
          <p:spPr>
            <a:xfrm>
              <a:off x="9314327" y="26078"/>
              <a:ext cx="989381" cy="246888"/>
            </a:xfrm>
            <a:prstGeom prst="rect">
              <a:avLst/>
            </a:prstGeom>
            <a:solidFill>
              <a:srgbClr val="00B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9314327" y="36154"/>
              <a:ext cx="989381" cy="24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-US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sheep  0.81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THE CONCEPT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Computer Vision &amp; Object Detection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Object detection answers two questions at once: what is in the image, and where is it. That's the core idea VisionBox demonstrates.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40080" y="2103120"/>
            <a:ext cx="5285232" cy="384048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B112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960120" y="2340864"/>
            <a:ext cx="4645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Image Classification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60120" y="2743200"/>
            <a:ext cx="4645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label for the whole image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505456" y="3127248"/>
            <a:ext cx="1554480" cy="1024128"/>
          </a:xfrm>
          <a:prstGeom prst="roundRect">
            <a:avLst>
              <a:gd fmla="val 7143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3040380" y="4224528"/>
            <a:ext cx="539496" cy="237744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040380" y="4233672"/>
            <a:ext cx="53949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“cat”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1005840" y="4681728"/>
            <a:ext cx="274320" cy="27432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eck_g.png" id="102" name="Google Shape;10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163" y="4753051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1389888" y="4663440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Answers “what is this?”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1005840" y="5065776"/>
            <a:ext cx="274320" cy="27432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eck_g.png" id="105" name="Google Shape;10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163" y="5137099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1389888" y="5047488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No location information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005840" y="5449824"/>
            <a:ext cx="274320" cy="27432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eck_g.png" id="108" name="Google Shape;1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7163" y="5521147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6"/>
          <p:cNvSpPr/>
          <p:nvPr/>
        </p:nvSpPr>
        <p:spPr>
          <a:xfrm>
            <a:off x="1389888" y="5431536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One prediction per image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263640" y="2103120"/>
            <a:ext cx="5285232" cy="3840480"/>
          </a:xfrm>
          <a:prstGeom prst="roundRect">
            <a:avLst>
              <a:gd fmla="val 2381" name="adj"/>
            </a:avLst>
          </a:prstGeom>
          <a:solidFill>
            <a:srgbClr val="F0FAF4"/>
          </a:solidFill>
          <a:ln cap="flat" cmpd="sng" w="19050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0B112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583680" y="2340864"/>
            <a:ext cx="4645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Object Detection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583680" y="2743200"/>
            <a:ext cx="46451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Boxes + labels for every object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629400" y="4681728"/>
            <a:ext cx="274320" cy="27432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eck_g.png" id="114" name="Google Shape;1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0723" y="4753051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7013448" y="4663440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Answers “what AND where?”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629400" y="5065776"/>
            <a:ext cx="274320" cy="27432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eck_g.png" id="117" name="Google Shape;1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0723" y="5137099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7013448" y="5047488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Draws a bounding box per object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629400" y="5449824"/>
            <a:ext cx="274320" cy="27432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eck_g.png"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00723" y="5521147"/>
            <a:ext cx="131674" cy="131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7013448" y="5431536"/>
            <a:ext cx="41879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Many objects, each with a score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icons/arrow_g.png" id="122" name="Google Shape;12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52160" y="35204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101584" y="3191256"/>
            <a:ext cx="1554480" cy="1024128"/>
          </a:xfrm>
          <a:prstGeom prst="roundRect">
            <a:avLst>
              <a:gd fmla="val 7143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323949" y="3246120"/>
            <a:ext cx="1090214" cy="90525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5400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Google Shape;127;p6"/>
          <p:cNvGrpSpPr/>
          <p:nvPr/>
        </p:nvGrpSpPr>
        <p:grpSpPr>
          <a:xfrm>
            <a:off x="8313557" y="3025209"/>
            <a:ext cx="839420" cy="220911"/>
            <a:chOff x="8816644" y="960120"/>
            <a:chExt cx="839420" cy="220911"/>
          </a:xfrm>
        </p:grpSpPr>
        <p:sp>
          <p:nvSpPr>
            <p:cNvPr id="128" name="Google Shape;128;p6"/>
            <p:cNvSpPr/>
            <p:nvPr/>
          </p:nvSpPr>
          <p:spPr>
            <a:xfrm>
              <a:off x="8816645" y="960120"/>
              <a:ext cx="839419" cy="219456"/>
            </a:xfrm>
            <a:prstGeom prst="rect">
              <a:avLst/>
            </a:prstGeom>
            <a:solidFill>
              <a:srgbClr val="00B45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8816644" y="961575"/>
              <a:ext cx="839419" cy="2194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"/>
                <a:buFont typeface="Arial"/>
                <a:buNone/>
              </a:pPr>
              <a:r>
                <a:rPr b="1" lang="en-US" sz="8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cat  0.96</a:t>
              </a:r>
              <a:endParaRPr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WHAT MAKES IT DIFFERENT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21792" y="74980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Big Idea: Animal + Pose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40080" y="1600200"/>
            <a:ext cx="5852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E9D8"/>
              </a:buClr>
              <a:buSzPts val="1550"/>
              <a:buFont typeface="Calibri"/>
              <a:buNone/>
            </a:pPr>
            <a:r>
              <a:rPr lang="en-US" sz="1550">
                <a:solidFill>
                  <a:srgbClr val="CBE9D8"/>
                </a:solidFill>
                <a:latin typeface="Calibri"/>
                <a:ea typeface="Calibri"/>
                <a:cs typeface="Calibri"/>
                <a:sym typeface="Calibri"/>
              </a:rPr>
              <a:t>Most detectors stop at “there is a cow.” VisionBox goes one step further: it detects the animal and what it is doing, then merges them into a single, human-readable label.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0080" y="2971800"/>
            <a:ext cx="1783080" cy="114300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 cap="flat" cmpd="sng" w="19050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40080" y="3227832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40080" y="368503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animal class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246888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2926080" y="2971800"/>
            <a:ext cx="1783080" cy="114300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 cap="flat" cmpd="sng" w="19050">
            <a:solidFill>
              <a:srgbClr val="0EA5A5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2926080" y="3227832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stand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926080" y="3685032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pose class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75488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212080" y="2971800"/>
            <a:ext cx="2148840" cy="1143000"/>
          </a:xfrm>
          <a:prstGeom prst="roundRect">
            <a:avLst>
              <a:gd fmla="val 8000" name="adj"/>
            </a:avLst>
          </a:prstGeom>
          <a:solidFill>
            <a:srgbClr val="00B45A"/>
          </a:solidFill>
          <a:ln>
            <a:noFill/>
          </a:ln>
          <a:effectLst>
            <a:outerShdw blurRad="152400" rotWithShape="0" algn="bl" dir="5400000" dist="50800">
              <a:srgbClr val="00B45A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212080" y="3227832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cow (stand)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212080" y="368503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FF6E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FF6E8"/>
                </a:solidFill>
                <a:latin typeface="Calibri"/>
                <a:ea typeface="Calibri"/>
                <a:cs typeface="Calibri"/>
                <a:sym typeface="Calibri"/>
              </a:rPr>
              <a:t>final detection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40080" y="4434840"/>
            <a:ext cx="6675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Each pose is matched to the animal whose box it overlaps the most, so the description stays accurate even with several animals in frame.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bg/scene.png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1554480"/>
            <a:ext cx="379476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7772400" y="1554480"/>
            <a:ext cx="3794760" cy="3840480"/>
          </a:xfrm>
          <a:prstGeom prst="roundRect">
            <a:avLst>
              <a:gd fmla="val 2892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863840" y="1645920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863840" y="164592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11201400" y="1645920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1434572" y="164592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7863840" y="5262372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7863840" y="502920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1201400" y="5262372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1434572" y="502920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772400" y="5458968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Animal + pose, paired automatically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7566" y="2583077"/>
            <a:ext cx="1905069" cy="190506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8076393" y="2668386"/>
            <a:ext cx="1688287" cy="1766454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7"/>
          <p:cNvGrpSpPr/>
          <p:nvPr/>
        </p:nvGrpSpPr>
        <p:grpSpPr>
          <a:xfrm>
            <a:off x="8066003" y="2414016"/>
            <a:ext cx="1457554" cy="246888"/>
            <a:chOff x="8001000" y="585216"/>
            <a:chExt cx="1457554" cy="246888"/>
          </a:xfrm>
        </p:grpSpPr>
        <p:sp>
          <p:nvSpPr>
            <p:cNvPr id="166" name="Google Shape;166;p7"/>
            <p:cNvSpPr/>
            <p:nvPr/>
          </p:nvSpPr>
          <p:spPr>
            <a:xfrm>
              <a:off x="8001000" y="585216"/>
              <a:ext cx="1439266" cy="246888"/>
            </a:xfrm>
            <a:prstGeom prst="rect">
              <a:avLst/>
            </a:prstGeom>
            <a:solidFill>
              <a:srgbClr val="00B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8019288" y="585216"/>
              <a:ext cx="1439266" cy="24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50"/>
                <a:buFont typeface="Arial"/>
                <a:buNone/>
              </a:pPr>
              <a:r>
                <a:rPr b="1" lang="en-US" sz="9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 (stand)  0.92</a:t>
              </a:r>
              <a:endParaRPr sz="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8" name="Google Shape;16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33225" y="3456432"/>
            <a:ext cx="1516416" cy="15164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7"/>
          <p:cNvGrpSpPr/>
          <p:nvPr/>
        </p:nvGrpSpPr>
        <p:grpSpPr>
          <a:xfrm>
            <a:off x="9968051" y="3373473"/>
            <a:ext cx="1229040" cy="257107"/>
            <a:chOff x="8323783" y="220532"/>
            <a:chExt cx="1440897" cy="257107"/>
          </a:xfrm>
        </p:grpSpPr>
        <p:sp>
          <p:nvSpPr>
            <p:cNvPr id="170" name="Google Shape;170;p7"/>
            <p:cNvSpPr/>
            <p:nvPr/>
          </p:nvSpPr>
          <p:spPr>
            <a:xfrm>
              <a:off x="8325414" y="230751"/>
              <a:ext cx="1439266" cy="246888"/>
            </a:xfrm>
            <a:prstGeom prst="rect">
              <a:avLst/>
            </a:prstGeom>
            <a:solidFill>
              <a:srgbClr val="00B45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8323783" y="220532"/>
              <a:ext cx="1439266" cy="24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-US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horse (run)  0.86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7"/>
          <p:cNvSpPr/>
          <p:nvPr/>
        </p:nvSpPr>
        <p:spPr>
          <a:xfrm>
            <a:off x="9981462" y="3642809"/>
            <a:ext cx="1215628" cy="113900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UNDER THE HOOD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The Technology Stack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VisionBox stays lightweight — a small, well-known Python stack that students can install and read in a single sitting.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40080" y="2057400"/>
            <a:ext cx="3456432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932688" y="2331720"/>
            <a:ext cx="548640" cy="54864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robot_g.png" id="183" name="Google Shape;18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334" y="24743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932688" y="2971800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Ultralytics YOLOv11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932688" y="3291840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detection engine — loads animals.pt and runs inference.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425696" y="2057400"/>
            <a:ext cx="3456432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718304" y="2331720"/>
            <a:ext cx="548640" cy="54864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streamlit_green.png" id="188" name="Google Shape;1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0950" y="24743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4718304" y="2971800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718304" y="3291840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Builds the entire web UI: upload, sliders, tables, downloads.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211312" y="2057400"/>
            <a:ext cx="3456432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503920" y="2331720"/>
            <a:ext cx="548640" cy="54864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opencv_green.png" id="193" name="Google Shape;19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6566" y="24743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8"/>
          <p:cNvSpPr/>
          <p:nvPr/>
        </p:nvSpPr>
        <p:spPr>
          <a:xfrm>
            <a:off x="8503920" y="2971800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OpenCV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503920" y="3291840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Draws bounding boxes, labels and confidence onto the image.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40080" y="4133088"/>
            <a:ext cx="3456432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932688" y="4407408"/>
            <a:ext cx="548640" cy="54864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pandas_green.png" id="198" name="Google Shape;19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5334" y="455005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"/>
          <p:cNvSpPr/>
          <p:nvPr/>
        </p:nvSpPr>
        <p:spPr>
          <a:xfrm>
            <a:off x="932688" y="5047488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932688" y="5367528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Turns raw detections into clean tables and statistics.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425696" y="4133088"/>
            <a:ext cx="3456432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718304" y="4407408"/>
            <a:ext cx="548640" cy="54864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numpy_green.png" id="203" name="Google Shape;20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0950" y="455005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4718304" y="5047488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718304" y="5367528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Converts images to arrays and handles box math (IoU).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211312" y="4133088"/>
            <a:ext cx="3456432" cy="1783080"/>
          </a:xfrm>
          <a:prstGeom prst="roundRect">
            <a:avLst>
              <a:gd fmla="val 4615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8503920" y="4407408"/>
            <a:ext cx="548640" cy="54864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image_g.png" id="208" name="Google Shape;20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46566" y="4550054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/>
          <p:nvPr/>
        </p:nvSpPr>
        <p:spPr>
          <a:xfrm>
            <a:off x="8503920" y="5047488"/>
            <a:ext cx="2907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Pillow (PIL)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8503920" y="5367528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Reads uploads/webcam frames and exports the result image.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HOW IT FITS TOGETHER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Three small modules, one clear flow — from the user's image to a labelled result.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40080" y="2240280"/>
            <a:ext cx="2560320" cy="2148840"/>
          </a:xfrm>
          <a:prstGeom prst="roundRect">
            <a:avLst>
              <a:gd fmla="val 4255" name="adj"/>
            </a:avLst>
          </a:prstGeom>
          <a:solidFill>
            <a:srgbClr val="0F172A"/>
          </a:solidFill>
          <a:ln>
            <a:noFill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1536192" y="2514600"/>
            <a:ext cx="768096" cy="768096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amera_w.png" id="223" name="Google Shape;2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8216" y="270662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777240" y="335584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1" lang="en-US" sz="14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User Input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77240" y="36576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Streamlit UI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822960" y="390448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Upload or webcam snapshot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icons/arrow_g.png" id="227" name="Google Shape;22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31501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9"/>
          <p:cNvSpPr/>
          <p:nvPr/>
        </p:nvSpPr>
        <p:spPr>
          <a:xfrm>
            <a:off x="3419856" y="2240280"/>
            <a:ext cx="2560320" cy="2148840"/>
          </a:xfrm>
          <a:prstGeom prst="roundRect">
            <a:avLst>
              <a:gd fmla="val 4255" name="adj"/>
            </a:avLst>
          </a:prstGeom>
          <a:solidFill>
            <a:srgbClr val="0F172A"/>
          </a:solidFill>
          <a:ln>
            <a:noFill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4315968" y="2514600"/>
            <a:ext cx="768096" cy="768096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ode_w.png" id="230" name="Google Shape;23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07992" y="270662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3557016" y="335584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1" lang="en-US" sz="14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app.py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557016" y="36576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3602736" y="390448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Orchestrates the workflow &amp; layout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icons/arrow_g.png" id="234" name="Google Shape;2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6752" y="31501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9"/>
          <p:cNvSpPr/>
          <p:nvPr/>
        </p:nvSpPr>
        <p:spPr>
          <a:xfrm>
            <a:off x="6199632" y="2240280"/>
            <a:ext cx="2560320" cy="2148840"/>
          </a:xfrm>
          <a:prstGeom prst="roundRect">
            <a:avLst>
              <a:gd fmla="val 4255" name="adj"/>
            </a:avLst>
          </a:prstGeom>
          <a:solidFill>
            <a:srgbClr val="0F172A"/>
          </a:solidFill>
          <a:ln>
            <a:noFill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7095744" y="2514600"/>
            <a:ext cx="768096" cy="768096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robot_w.png" id="237" name="Google Shape;23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7768" y="270662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6336792" y="335584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1" lang="en-US" sz="14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detector.py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336792" y="36576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YOLO11 + pairing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382512" y="390448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Inference, IoU pose-pairing, boxes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icons/arrow_g.png" id="241" name="Google Shape;2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96528" y="315010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8979408" y="2240280"/>
            <a:ext cx="2560320" cy="2148840"/>
          </a:xfrm>
          <a:prstGeom prst="roundRect">
            <a:avLst>
              <a:gd fmla="val 4255" name="adj"/>
            </a:avLst>
          </a:prstGeom>
          <a:solidFill>
            <a:srgbClr val="0F172A"/>
          </a:solidFill>
          <a:ln>
            <a:noFill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9875520" y="2514600"/>
            <a:ext cx="768096" cy="768096"/>
          </a:xfrm>
          <a:prstGeom prst="ellipse">
            <a:avLst/>
          </a:prstGeom>
          <a:solidFill>
            <a:srgbClr val="0E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art_w.png" id="244" name="Google Shape;24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67544" y="270662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/>
          <p:nvPr/>
        </p:nvSpPr>
        <p:spPr>
          <a:xfrm>
            <a:off x="9116568" y="335584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ourier New"/>
              <a:buNone/>
            </a:pPr>
            <a:r>
              <a:rPr b="1" lang="en-US" sz="14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helpers.py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9116568" y="365760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Stats &amp; export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9162288" y="3904488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Counts, top-5, downloadable image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40080" y="4892040"/>
            <a:ext cx="10899648" cy="1005840"/>
          </a:xfrm>
          <a:prstGeom prst="roundRect">
            <a:avLst>
              <a:gd fmla="val 9091" name="adj"/>
            </a:avLst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960120" y="5175504"/>
            <a:ext cx="457200" cy="45720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image_g.png" id="250" name="Google Shape;250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8992" y="529437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9"/>
          <p:cNvSpPr/>
          <p:nvPr/>
        </p:nvSpPr>
        <p:spPr>
          <a:xfrm>
            <a:off x="1600200" y="4892040"/>
            <a:ext cx="9692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B45A"/>
                </a:solidFill>
                <a:latin typeface="Calibri"/>
                <a:ea typeface="Calibri"/>
                <a:cs typeface="Calibri"/>
                <a:sym typeface="Calibri"/>
              </a:rPr>
              <a:t>Output:  </a:t>
            </a:r>
            <a:r>
              <a:rPr lang="en-US" sz="140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annotated image + detection table + statistics + a one-click download of the result.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THE DETECTION ENGINE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621792" y="74980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Powered by YOLOv11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40080" y="1554480"/>
            <a:ext cx="6035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E9D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BE9D8"/>
                </a:solidFill>
                <a:latin typeface="Calibri"/>
                <a:ea typeface="Calibri"/>
                <a:cs typeface="Calibri"/>
                <a:sym typeface="Calibri"/>
              </a:rPr>
              <a:t>YOLO — “You Only Look Once” — is a real-time object detector that scans the whole image in a single pass, predicting every bounding box and class together. That single-pass design is what makes it fast enough for live use.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40080" y="3063240"/>
            <a:ext cx="6126480" cy="841248"/>
          </a:xfrm>
          <a:prstGeom prst="roundRect">
            <a:avLst>
              <a:gd fmla="val 86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868680" y="3300984"/>
            <a:ext cx="384048" cy="384048"/>
          </a:xfrm>
          <a:prstGeom prst="ellipse">
            <a:avLst/>
          </a:prstGeom>
          <a:solidFill>
            <a:srgbClr val="0F172A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bolt_w.png" id="264" name="Google Shape;26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8532" y="340083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0"/>
          <p:cNvSpPr/>
          <p:nvPr/>
        </p:nvSpPr>
        <p:spPr>
          <a:xfrm>
            <a:off x="1417320" y="3191256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Single-pass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1417320" y="34747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Looks at the image once — no slow region-by-region scanning.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40080" y="4014216"/>
            <a:ext cx="6126480" cy="841248"/>
          </a:xfrm>
          <a:prstGeom prst="roundRect">
            <a:avLst>
              <a:gd fmla="val 86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868680" y="4251960"/>
            <a:ext cx="384048" cy="384048"/>
          </a:xfrm>
          <a:prstGeom prst="ellipse">
            <a:avLst/>
          </a:prstGeom>
          <a:solidFill>
            <a:srgbClr val="0F172A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rop_w.png" id="269" name="Google Shape;26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532" y="435181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0"/>
          <p:cNvSpPr/>
          <p:nvPr/>
        </p:nvSpPr>
        <p:spPr>
          <a:xfrm>
            <a:off x="1417320" y="414223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Nano model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1417320" y="442569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smallest YOLOv11 variant: light, quick, easy to run on a laptop.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640080" y="4965192"/>
            <a:ext cx="6126480" cy="841248"/>
          </a:xfrm>
          <a:prstGeom prst="roundRect">
            <a:avLst>
              <a:gd fmla="val 86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868680" y="5202936"/>
            <a:ext cx="384048" cy="384048"/>
          </a:xfrm>
          <a:prstGeom prst="ellipse">
            <a:avLst/>
          </a:prstGeom>
          <a:solidFill>
            <a:srgbClr val="0F172A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spark_g.png" id="274" name="Google Shape;27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8532" y="5302788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1417320" y="509320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Fine-tuned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1417320" y="537667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Re-trained on a custom animals dataset to learn animals + poses.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7360920" y="1691640"/>
            <a:ext cx="1993392" cy="1627632"/>
          </a:xfrm>
          <a:prstGeom prst="roundRect">
            <a:avLst>
              <a:gd fmla="val 5618" name="adj"/>
            </a:avLst>
          </a:prstGeom>
          <a:solidFill>
            <a:srgbClr val="0B1322"/>
          </a:solidFill>
          <a:ln cap="flat" cmpd="sng" w="12700">
            <a:solidFill>
              <a:srgbClr val="2434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7470648" y="1984248"/>
            <a:ext cx="1773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7470648" y="2715768"/>
            <a:ext cx="17739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pass over the image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9610344" y="1691640"/>
            <a:ext cx="1993392" cy="1627632"/>
          </a:xfrm>
          <a:prstGeom prst="roundRect">
            <a:avLst>
              <a:gd fmla="val 5618" name="adj"/>
            </a:avLst>
          </a:prstGeom>
          <a:solidFill>
            <a:srgbClr val="0B1322"/>
          </a:solidFill>
          <a:ln cap="flat" cmpd="sng" w="12700">
            <a:solidFill>
              <a:srgbClr val="2434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9720072" y="1984248"/>
            <a:ext cx="1773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9720072" y="2715768"/>
            <a:ext cx="17739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trained classes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7360920" y="3575304"/>
            <a:ext cx="1993392" cy="1627632"/>
          </a:xfrm>
          <a:prstGeom prst="roundRect">
            <a:avLst>
              <a:gd fmla="val 5618" name="adj"/>
            </a:avLst>
          </a:prstGeom>
          <a:solidFill>
            <a:srgbClr val="0B1322"/>
          </a:solidFill>
          <a:ln cap="flat" cmpd="sng" w="12700">
            <a:solidFill>
              <a:srgbClr val="2434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7470648" y="3867912"/>
            <a:ext cx="1773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0.25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7470648" y="4599432"/>
            <a:ext cx="17739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default confidence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9610344" y="3575304"/>
            <a:ext cx="1993392" cy="1627632"/>
          </a:xfrm>
          <a:prstGeom prst="roundRect">
            <a:avLst>
              <a:gd fmla="val 5618" name="adj"/>
            </a:avLst>
          </a:prstGeom>
          <a:solidFill>
            <a:srgbClr val="0B1322"/>
          </a:solidFill>
          <a:ln cap="flat" cmpd="sng" w="12700">
            <a:solidFill>
              <a:srgbClr val="2434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9720072" y="3867912"/>
            <a:ext cx="177393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9720072" y="4599432"/>
            <a:ext cx="17739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max detections / image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21792" y="681851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The Animals Dataset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40080" y="1417320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The model is fine-tuned on the open-source Animals (animals-p1cov) dataset from Roboflow Universe — 10 classes split into animals and the poses they appear in.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640080" y="2514600"/>
            <a:ext cx="3017520" cy="338328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640080" y="2514600"/>
            <a:ext cx="3017520" cy="566928"/>
          </a:xfrm>
          <a:prstGeom prst="roundRect">
            <a:avLst>
              <a:gd fmla="val 16129" name="adj"/>
            </a:avLst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640080" y="2798064"/>
            <a:ext cx="3017520" cy="283464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640080" y="253288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Animals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960120" y="3264408"/>
            <a:ext cx="384048" cy="384048"/>
          </a:xfrm>
          <a:prstGeom prst="ellipse">
            <a:avLst/>
          </a:prstGeom>
          <a:solidFill>
            <a:srgbClr val="92D050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animals/cat_w.png" id="304" name="Google Shape;30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972" y="3364260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1"/>
          <p:cNvSpPr/>
          <p:nvPr/>
        </p:nvSpPr>
        <p:spPr>
          <a:xfrm>
            <a:off x="1508760" y="32644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cat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960120" y="3776472"/>
            <a:ext cx="384048" cy="384048"/>
          </a:xfrm>
          <a:prstGeom prst="ellipse">
            <a:avLst/>
          </a:prstGeom>
          <a:solidFill>
            <a:srgbClr val="92D050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animals/cow_w.png" id="307" name="Google Shape;30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9972" y="387632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1508760" y="377647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cow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960120" y="4288536"/>
            <a:ext cx="384048" cy="384048"/>
          </a:xfrm>
          <a:prstGeom prst="ellipse">
            <a:avLst/>
          </a:prstGeom>
          <a:solidFill>
            <a:srgbClr val="92D050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animals/dog_w.png" id="310" name="Google Shape;31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9972" y="4388388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1"/>
          <p:cNvSpPr/>
          <p:nvPr/>
        </p:nvSpPr>
        <p:spPr>
          <a:xfrm>
            <a:off x="1508760" y="428853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dog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960120" y="4800600"/>
            <a:ext cx="384048" cy="384048"/>
          </a:xfrm>
          <a:prstGeom prst="ellipse">
            <a:avLst/>
          </a:prstGeom>
          <a:solidFill>
            <a:srgbClr val="92D050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animals/horse_w.png" id="313" name="Google Shape;31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9972" y="490045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1"/>
          <p:cNvSpPr/>
          <p:nvPr/>
        </p:nvSpPr>
        <p:spPr>
          <a:xfrm>
            <a:off x="1508760" y="480060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horse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960120" y="5312664"/>
            <a:ext cx="384048" cy="384048"/>
          </a:xfrm>
          <a:prstGeom prst="ellipse">
            <a:avLst/>
          </a:prstGeom>
          <a:solidFill>
            <a:srgbClr val="92D050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animals/sheep_w.png" id="316" name="Google Shape;31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9972" y="541251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1508760" y="53126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sheep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977640" y="2514600"/>
            <a:ext cx="3017520" cy="338328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3977640" y="2514600"/>
            <a:ext cx="3017520" cy="566928"/>
          </a:xfrm>
          <a:prstGeom prst="roundRect">
            <a:avLst>
              <a:gd fmla="val 16129" name="adj"/>
            </a:avLst>
          </a:prstGeom>
          <a:solidFill>
            <a:srgbClr val="0E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3977640" y="2798064"/>
            <a:ext cx="3017520" cy="283464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3977640" y="2532888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Poses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297680" y="3264408"/>
            <a:ext cx="384048" cy="384048"/>
          </a:xfrm>
          <a:prstGeom prst="ellipse">
            <a:avLst/>
          </a:prstGeom>
          <a:solidFill>
            <a:srgbClr val="00B0F0"/>
          </a:solidFill>
          <a:ln cap="flat" cmpd="sng" w="15875">
            <a:solidFill>
              <a:srgbClr val="0E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paw_w.png" id="323" name="Google Shape;32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7532" y="3364260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1"/>
          <p:cNvSpPr/>
          <p:nvPr/>
        </p:nvSpPr>
        <p:spPr>
          <a:xfrm>
            <a:off x="4846320" y="3264408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eating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297680" y="3776472"/>
            <a:ext cx="384048" cy="384048"/>
          </a:xfrm>
          <a:prstGeom prst="ellipse">
            <a:avLst/>
          </a:prstGeom>
          <a:solidFill>
            <a:srgbClr val="00B0F0"/>
          </a:solidFill>
          <a:ln cap="flat" cmpd="sng" w="15875">
            <a:solidFill>
              <a:srgbClr val="0E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paw_w.png" id="326" name="Google Shape;326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7532" y="3876324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4846320" y="3776472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laying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297680" y="4288536"/>
            <a:ext cx="384048" cy="384048"/>
          </a:xfrm>
          <a:prstGeom prst="ellipse">
            <a:avLst/>
          </a:prstGeom>
          <a:solidFill>
            <a:srgbClr val="00B0F0"/>
          </a:solidFill>
          <a:ln cap="flat" cmpd="sng" w="15875">
            <a:solidFill>
              <a:srgbClr val="0E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run_w.png" id="329" name="Google Shape;32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97532" y="4388388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1"/>
          <p:cNvSpPr/>
          <p:nvPr/>
        </p:nvSpPr>
        <p:spPr>
          <a:xfrm>
            <a:off x="4846320" y="4288536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run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4297680" y="4800600"/>
            <a:ext cx="384048" cy="384048"/>
          </a:xfrm>
          <a:prstGeom prst="ellipse">
            <a:avLst/>
          </a:prstGeom>
          <a:solidFill>
            <a:srgbClr val="00B0F0"/>
          </a:solidFill>
          <a:ln cap="flat" cmpd="sng" w="15875">
            <a:solidFill>
              <a:srgbClr val="0E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paw_w.png" id="332" name="Google Shape;33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7532" y="4900452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4846320" y="480060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sit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297680" y="5312664"/>
            <a:ext cx="384048" cy="384048"/>
          </a:xfrm>
          <a:prstGeom prst="ellipse">
            <a:avLst/>
          </a:prstGeom>
          <a:solidFill>
            <a:srgbClr val="00B0F0"/>
          </a:solidFill>
          <a:ln cap="flat" cmpd="sng" w="15875">
            <a:solidFill>
              <a:srgbClr val="0E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paw_w.png" id="335" name="Google Shape;33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7532" y="5412516"/>
            <a:ext cx="184343" cy="18434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1"/>
          <p:cNvSpPr/>
          <p:nvPr/>
        </p:nvSpPr>
        <p:spPr>
          <a:xfrm>
            <a:off x="4846320" y="5312664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stand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7360920" y="1828800"/>
            <a:ext cx="4160520" cy="4069080"/>
          </a:xfrm>
          <a:prstGeom prst="roundRect">
            <a:avLst>
              <a:gd fmla="val 2247" name="adj"/>
            </a:avLst>
          </a:prstGeom>
          <a:solidFill>
            <a:srgbClr val="0F172A"/>
          </a:solidFill>
          <a:ln>
            <a:noFill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7680960" y="2176272"/>
            <a:ext cx="502920" cy="502920"/>
          </a:xfrm>
          <a:prstGeom prst="ellipse">
            <a:avLst/>
          </a:prstGeom>
          <a:solidFill>
            <a:srgbClr val="1E293B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db_w.png" id="339" name="Google Shape;339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1719" y="2307031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1"/>
          <p:cNvSpPr/>
          <p:nvPr/>
        </p:nvSpPr>
        <p:spPr>
          <a:xfrm>
            <a:off x="8366760" y="22128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Dataset at a glance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7635240" y="2935224"/>
            <a:ext cx="3611880" cy="512064"/>
          </a:xfrm>
          <a:prstGeom prst="rect">
            <a:avLst/>
          </a:prstGeom>
          <a:solidFill>
            <a:srgbClr val="0B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7772400" y="297180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9189720" y="2971800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Roboflow Universe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7772400" y="353872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9189720" y="3538728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animals-p1cov · v3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7635240" y="4069080"/>
            <a:ext cx="3611880" cy="512064"/>
          </a:xfrm>
          <a:prstGeom prst="rect">
            <a:avLst/>
          </a:prstGeom>
          <a:solidFill>
            <a:srgbClr val="0B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7772400" y="4105656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Workspace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9189720" y="4105656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sesese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7772400" y="4672584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9189720" y="4672584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YOLOv11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7635240" y="5202936"/>
            <a:ext cx="3611880" cy="512064"/>
          </a:xfrm>
          <a:prstGeom prst="rect">
            <a:avLst/>
          </a:prstGeom>
          <a:solidFill>
            <a:srgbClr val="0B13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"/>
          <p:cNvSpPr/>
          <p:nvPr/>
        </p:nvSpPr>
        <p:spPr>
          <a:xfrm>
            <a:off x="7772400" y="5239512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License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9189720" y="5239512"/>
            <a:ext cx="2057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CC BY 4.0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2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STEP BY STEP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How a Detection Happens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runs each time you press “Run object detection”: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640080" y="2286000"/>
            <a:ext cx="1874520" cy="27889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822960" y="2487168"/>
            <a:ext cx="457200" cy="457200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822960" y="2487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1837944" y="2523744"/>
            <a:ext cx="402336" cy="402336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image_g.png" id="368" name="Google Shape;3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2551" y="2628351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2"/>
          <p:cNvSpPr/>
          <p:nvPr/>
        </p:nvSpPr>
        <p:spPr>
          <a:xfrm>
            <a:off x="841248" y="3154680"/>
            <a:ext cx="1472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Read image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841248" y="3584448"/>
            <a:ext cx="14721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upload or webcam frame becomes an RGB image, then a NumPy array.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icons/arrow_g.png" id="371" name="Google Shape;37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7752" y="35615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2"/>
          <p:cNvSpPr/>
          <p:nvPr/>
        </p:nvSpPr>
        <p:spPr>
          <a:xfrm>
            <a:off x="2898648" y="2286000"/>
            <a:ext cx="1874520" cy="27889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3081528" y="2487168"/>
            <a:ext cx="457200" cy="457200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3081528" y="2487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4096512" y="2523744"/>
            <a:ext cx="402336" cy="402336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robot_g.png" id="376" name="Google Shape;37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01119" y="2628351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12"/>
          <p:cNvSpPr/>
          <p:nvPr/>
        </p:nvSpPr>
        <p:spPr>
          <a:xfrm>
            <a:off x="3099816" y="3154680"/>
            <a:ext cx="1472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YOLO inference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3099816" y="3584448"/>
            <a:ext cx="14721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model(image, conf, max_det=300) returns every box above the threshold.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icons/arrow_g.png" id="379" name="Google Shape;37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35615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2"/>
          <p:cNvSpPr/>
          <p:nvPr/>
        </p:nvSpPr>
        <p:spPr>
          <a:xfrm>
            <a:off x="5157216" y="2286000"/>
            <a:ext cx="1874520" cy="27889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5340096" y="2487168"/>
            <a:ext cx="457200" cy="457200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2"/>
          <p:cNvSpPr/>
          <p:nvPr/>
        </p:nvSpPr>
        <p:spPr>
          <a:xfrm>
            <a:off x="5340096" y="2487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355080" y="2523744"/>
            <a:ext cx="402336" cy="402336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rop_g.png" id="384" name="Google Shape;384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9687" y="2628351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2"/>
          <p:cNvSpPr/>
          <p:nvPr/>
        </p:nvSpPr>
        <p:spPr>
          <a:xfrm>
            <a:off x="5358384" y="3154680"/>
            <a:ext cx="1472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Pair poses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/>
          <p:nvPr/>
        </p:nvSpPr>
        <p:spPr>
          <a:xfrm>
            <a:off x="5358384" y="3584448"/>
            <a:ext cx="14721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pose box is matched to its animal using IoU overlap.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icons/arrow_g.png" id="387" name="Google Shape;38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4888" y="35615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2"/>
          <p:cNvSpPr/>
          <p:nvPr/>
        </p:nvSpPr>
        <p:spPr>
          <a:xfrm>
            <a:off x="7415784" y="2286000"/>
            <a:ext cx="1874520" cy="27889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7598664" y="2487168"/>
            <a:ext cx="457200" cy="457200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7598664" y="2487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8613648" y="2523744"/>
            <a:ext cx="402336" cy="402336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table_g.png" id="392" name="Google Shape;39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18255" y="2628351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2"/>
          <p:cNvSpPr/>
          <p:nvPr/>
        </p:nvSpPr>
        <p:spPr>
          <a:xfrm>
            <a:off x="7616952" y="3154680"/>
            <a:ext cx="1472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Build table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7616952" y="3584448"/>
            <a:ext cx="14721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Detections become a tidy DataFrame: class, position, score, box.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icons/arrow_g.png" id="395" name="Google Shape;39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3456" y="356158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2"/>
          <p:cNvSpPr/>
          <p:nvPr/>
        </p:nvSpPr>
        <p:spPr>
          <a:xfrm>
            <a:off x="9674352" y="2286000"/>
            <a:ext cx="1874520" cy="2788920"/>
          </a:xfrm>
          <a:prstGeom prst="roundRect">
            <a:avLst>
              <a:gd fmla="val 487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9857232" y="2487168"/>
            <a:ext cx="457200" cy="457200"/>
          </a:xfrm>
          <a:prstGeom prst="ellipse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9857232" y="24871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10872216" y="2523744"/>
            <a:ext cx="402336" cy="402336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download_g.png" id="400" name="Google Shape;400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976823" y="2628351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12"/>
          <p:cNvSpPr/>
          <p:nvPr/>
        </p:nvSpPr>
        <p:spPr>
          <a:xfrm>
            <a:off x="9875520" y="3154680"/>
            <a:ext cx="14721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Render &amp; export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9875520" y="3584448"/>
            <a:ext cx="147218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Draw boxes, show stats, and offer the annotated image to download.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"/>
          <p:cNvSpPr txBox="1"/>
          <p:nvPr/>
        </p:nvSpPr>
        <p:spPr>
          <a:xfrm>
            <a:off x="640080" y="384048"/>
            <a:ext cx="1005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STEP 1 UNDER THE HOOD</a:t>
            </a:r>
            <a:endParaRPr b="1" sz="1200">
              <a:solidFill>
                <a:srgbClr val="00B4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3"/>
          <p:cNvSpPr txBox="1"/>
          <p:nvPr/>
        </p:nvSpPr>
        <p:spPr>
          <a:xfrm>
            <a:off x="621792" y="676656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Image to NumPy Array Conversion</a:t>
            </a:r>
            <a:endParaRPr b="1" sz="3000">
              <a:solidFill>
                <a:srgbClr val="1623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 txBox="1"/>
          <p:nvPr/>
        </p:nvSpPr>
        <p:spPr>
          <a:xfrm>
            <a:off x="640080" y="1417320"/>
            <a:ext cx="10881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pixels translate into structural raw data for neural network consumption:</a:t>
            </a:r>
            <a:endParaRPr b="0" sz="14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" name="Google Shape;412;p13"/>
          <p:cNvGrpSpPr/>
          <p:nvPr/>
        </p:nvGrpSpPr>
        <p:grpSpPr>
          <a:xfrm>
            <a:off x="640080" y="2057400"/>
            <a:ext cx="3291900" cy="3810000"/>
            <a:chOff x="0" y="0"/>
            <a:chExt cx="3291900" cy="3810000"/>
          </a:xfrm>
        </p:grpSpPr>
        <p:sp>
          <p:nvSpPr>
            <p:cNvPr id="413" name="Google Shape;413;p13"/>
            <p:cNvSpPr/>
            <p:nvPr/>
          </p:nvSpPr>
          <p:spPr>
            <a:xfrm>
              <a:off x="0" y="0"/>
              <a:ext cx="3291900" cy="3810000"/>
            </a:xfrm>
            <a:prstGeom prst="roundRect">
              <a:avLst>
                <a:gd fmla="val 2777" name="adj"/>
              </a:avLst>
            </a:prstGeom>
            <a:solidFill>
              <a:srgbClr val="FFFFFF"/>
            </a:solidFill>
            <a:ln cap="flat" cmpd="sng" w="126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colorful, high-quality digital photograph of a domestic cat's face focusing closely on the eyes, crisp details." id="414" name="Google Shape;41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82880" y="182880"/>
              <a:ext cx="2926200" cy="219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" name="Google Shape;415;p13"/>
            <p:cNvSpPr/>
            <p:nvPr/>
          </p:nvSpPr>
          <p:spPr>
            <a:xfrm>
              <a:off x="182880" y="182880"/>
              <a:ext cx="2926200" cy="2194500"/>
            </a:xfrm>
            <a:prstGeom prst="roundRect">
              <a:avLst>
                <a:gd fmla="val 1736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00B4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3"/>
            <p:cNvSpPr txBox="1"/>
            <p:nvPr/>
          </p:nvSpPr>
          <p:spPr>
            <a:xfrm>
              <a:off x="182880" y="2560320"/>
              <a:ext cx="29262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49">
                  <a:solidFill>
                    <a:srgbClr val="16233B"/>
                  </a:solidFill>
                  <a:latin typeface="Arial"/>
                  <a:ea typeface="Arial"/>
                  <a:cs typeface="Arial"/>
                  <a:sym typeface="Arial"/>
                </a:rPr>
                <a:t>1. The Digital Input</a:t>
              </a:r>
              <a:endParaRPr b="1" sz="1249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064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An uploaded image consists of visual coordinates. The framework uses libraries like Pillow or OpenCV to read the raw compressed binary file into memory as an uncompressed RGB representation.</a:t>
              </a:r>
              <a:endParaRPr b="0" sz="1064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13"/>
          <p:cNvGrpSpPr/>
          <p:nvPr/>
        </p:nvGrpSpPr>
        <p:grpSpPr>
          <a:xfrm>
            <a:off x="4251960" y="3771900"/>
            <a:ext cx="457200" cy="365700"/>
            <a:chOff x="0" y="0"/>
            <a:chExt cx="457200" cy="365700"/>
          </a:xfrm>
        </p:grpSpPr>
        <p:sp>
          <p:nvSpPr>
            <p:cNvPr id="418" name="Google Shape;418;p13"/>
            <p:cNvSpPr/>
            <p:nvPr/>
          </p:nvSpPr>
          <p:spPr>
            <a:xfrm>
              <a:off x="0" y="0"/>
              <a:ext cx="457200" cy="365700"/>
            </a:xfrm>
            <a:prstGeom prst="roundRect">
              <a:avLst>
                <a:gd fmla="val 15624" name="adj"/>
              </a:avLst>
            </a:prstGeom>
            <a:solidFill>
              <a:srgbClr val="F0FAF4"/>
            </a:solidFill>
            <a:ln cap="flat" cmpd="sng" w="14300">
              <a:solidFill>
                <a:srgbClr val="00B4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3"/>
            <p:cNvSpPr txBox="1"/>
            <p:nvPr/>
          </p:nvSpPr>
          <p:spPr>
            <a:xfrm>
              <a:off x="0" y="0"/>
              <a:ext cx="457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0B4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→</a:t>
              </a:r>
              <a:endParaRPr b="1" sz="1050">
                <a:solidFill>
                  <a:srgbClr val="00B45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420" name="Google Shape;420;p13"/>
          <p:cNvSpPr/>
          <p:nvPr/>
        </p:nvSpPr>
        <p:spPr>
          <a:xfrm>
            <a:off x="5199025" y="1883500"/>
            <a:ext cx="6522600" cy="3810000"/>
          </a:xfrm>
          <a:prstGeom prst="roundRect">
            <a:avLst>
              <a:gd fmla="val 2400" name="adj"/>
            </a:avLst>
          </a:prstGeom>
          <a:solidFill>
            <a:srgbClr val="0B1322"/>
          </a:solidFill>
          <a:ln cap="flat" cmpd="sng" w="12675">
            <a:solidFill>
              <a:srgbClr val="2434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1" name="Google Shape;421;p13"/>
          <p:cNvGrpSpPr/>
          <p:nvPr/>
        </p:nvGrpSpPr>
        <p:grpSpPr>
          <a:xfrm>
            <a:off x="5547170" y="2134670"/>
            <a:ext cx="5974200" cy="548700"/>
            <a:chOff x="0" y="0"/>
            <a:chExt cx="5974200" cy="548700"/>
          </a:xfrm>
        </p:grpSpPr>
        <p:sp>
          <p:nvSpPr>
            <p:cNvPr id="422" name="Google Shape;422;p13"/>
            <p:cNvSpPr/>
            <p:nvPr/>
          </p:nvSpPr>
          <p:spPr>
            <a:xfrm>
              <a:off x="0" y="0"/>
              <a:ext cx="5974200" cy="548700"/>
            </a:xfrm>
            <a:prstGeom prst="roundRect">
              <a:avLst>
                <a:gd fmla="val 10416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3"/>
            <p:cNvSpPr txBox="1"/>
            <p:nvPr/>
          </p:nvSpPr>
          <p:spPr>
            <a:xfrm>
              <a:off x="182880" y="0"/>
              <a:ext cx="56082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64">
                  <a:solidFill>
                    <a:srgbClr val="12D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img_array = np.array(image.convert("RGB"))</a:t>
              </a:r>
              <a:endParaRPr b="1" sz="1064">
                <a:solidFill>
                  <a:srgbClr val="12D66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Generates a structured multidimensional ndarray matching [Height, Width, Channels]</a:t>
              </a:r>
              <a:endParaRPr b="0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4" name="Google Shape;424;p13"/>
          <p:cNvGrpSpPr/>
          <p:nvPr/>
        </p:nvGrpSpPr>
        <p:grpSpPr>
          <a:xfrm>
            <a:off x="5622845" y="2932640"/>
            <a:ext cx="1828800" cy="2469000"/>
            <a:chOff x="0" y="0"/>
            <a:chExt cx="1828800" cy="2469000"/>
          </a:xfrm>
        </p:grpSpPr>
        <p:sp>
          <p:nvSpPr>
            <p:cNvPr id="425" name="Google Shape;425;p13"/>
            <p:cNvSpPr/>
            <p:nvPr/>
          </p:nvSpPr>
          <p:spPr>
            <a:xfrm>
              <a:off x="0" y="0"/>
              <a:ext cx="1828800" cy="2469000"/>
            </a:xfrm>
            <a:prstGeom prst="roundRect">
              <a:avLst>
                <a:gd fmla="val 3125" name="adj"/>
              </a:avLst>
            </a:prstGeom>
            <a:solidFill>
              <a:srgbClr val="152033"/>
            </a:solidFill>
            <a:ln cap="flat" cmpd="sng" w="12675">
              <a:solidFill>
                <a:srgbClr val="2434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3"/>
            <p:cNvSpPr txBox="1"/>
            <p:nvPr/>
          </p:nvSpPr>
          <p:spPr>
            <a:xfrm>
              <a:off x="137160" y="182880"/>
              <a:ext cx="1554600" cy="21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Red Channel</a:t>
              </a:r>
              <a:endParaRPr b="1" sz="12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20"/>
                </a:spcBef>
                <a:spcAft>
                  <a:spcPts val="0"/>
                </a:spcAft>
                <a:buNone/>
              </a:pPr>
              <a: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[[255, 120, ...]</a:t>
              </a:r>
              <a:b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[ 84, 201, ...]</a:t>
              </a:r>
              <a:b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[ 43, 92, ...]]</a:t>
              </a:r>
              <a:endParaRPr b="1" sz="1064">
                <a:solidFill>
                  <a:srgbClr val="CBE9D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440"/>
                </a:spcBef>
                <a:spcAft>
                  <a:spcPts val="0"/>
                </a:spcAft>
                <a:buNone/>
              </a:pPr>
              <a:r>
                <a:rPr b="0" lang="en-US" sz="1064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First matrix plane representing the intensity of red light per pixel (0-255).</a:t>
              </a:r>
              <a:endParaRPr b="0" sz="1064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7" name="Google Shape;427;p13"/>
          <p:cNvGrpSpPr/>
          <p:nvPr/>
        </p:nvGrpSpPr>
        <p:grpSpPr>
          <a:xfrm>
            <a:off x="7742590" y="2932640"/>
            <a:ext cx="1828800" cy="2469000"/>
            <a:chOff x="0" y="0"/>
            <a:chExt cx="1828800" cy="2469000"/>
          </a:xfrm>
        </p:grpSpPr>
        <p:sp>
          <p:nvSpPr>
            <p:cNvPr id="428" name="Google Shape;428;p13"/>
            <p:cNvSpPr/>
            <p:nvPr/>
          </p:nvSpPr>
          <p:spPr>
            <a:xfrm>
              <a:off x="0" y="0"/>
              <a:ext cx="1828800" cy="2469000"/>
            </a:xfrm>
            <a:prstGeom prst="roundRect">
              <a:avLst>
                <a:gd fmla="val 3125" name="adj"/>
              </a:avLst>
            </a:prstGeom>
            <a:solidFill>
              <a:srgbClr val="152033"/>
            </a:solidFill>
            <a:ln cap="flat" cmpd="sng" w="12675">
              <a:solidFill>
                <a:srgbClr val="2434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3"/>
            <p:cNvSpPr txBox="1"/>
            <p:nvPr/>
          </p:nvSpPr>
          <p:spPr>
            <a:xfrm>
              <a:off x="137160" y="182880"/>
              <a:ext cx="1554600" cy="21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Green Channel</a:t>
              </a:r>
              <a:endParaRPr b="1" sz="12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20"/>
                </a:spcBef>
                <a:spcAft>
                  <a:spcPts val="0"/>
                </a:spcAft>
                <a:buNone/>
              </a:pPr>
              <a: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[[102, 45, ...]</a:t>
              </a:r>
              <a:b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[192, 88, ...]</a:t>
              </a:r>
              <a:b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[ 12, 115, ...]]</a:t>
              </a:r>
              <a:endParaRPr b="1" sz="1064">
                <a:solidFill>
                  <a:srgbClr val="CBE9D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440"/>
                </a:spcBef>
                <a:spcAft>
                  <a:spcPts val="0"/>
                </a:spcAft>
                <a:buNone/>
              </a:pPr>
              <a:r>
                <a:rPr b="0" lang="en-US" sz="1064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Second matrix plane containing corresponding green value signals.</a:t>
              </a:r>
              <a:endParaRPr b="0" sz="1064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0" name="Google Shape;430;p13"/>
          <p:cNvGrpSpPr/>
          <p:nvPr/>
        </p:nvGrpSpPr>
        <p:grpSpPr>
          <a:xfrm>
            <a:off x="9753485" y="2932640"/>
            <a:ext cx="1767900" cy="2469000"/>
            <a:chOff x="0" y="0"/>
            <a:chExt cx="1767900" cy="2469000"/>
          </a:xfrm>
        </p:grpSpPr>
        <p:sp>
          <p:nvSpPr>
            <p:cNvPr id="431" name="Google Shape;431;p13"/>
            <p:cNvSpPr/>
            <p:nvPr/>
          </p:nvSpPr>
          <p:spPr>
            <a:xfrm>
              <a:off x="0" y="0"/>
              <a:ext cx="1767900" cy="2469000"/>
            </a:xfrm>
            <a:prstGeom prst="roundRect">
              <a:avLst>
                <a:gd fmla="val 3232" name="adj"/>
              </a:avLst>
            </a:prstGeom>
            <a:solidFill>
              <a:srgbClr val="152033"/>
            </a:solidFill>
            <a:ln cap="flat" cmpd="sng" w="12675">
              <a:solidFill>
                <a:srgbClr val="24344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3"/>
            <p:cNvSpPr txBox="1"/>
            <p:nvPr/>
          </p:nvSpPr>
          <p:spPr>
            <a:xfrm>
              <a:off x="137160" y="182880"/>
              <a:ext cx="1493400" cy="210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4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Blue Channel</a:t>
              </a:r>
              <a:endParaRPr b="1" sz="124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20"/>
                </a:spcBef>
                <a:spcAft>
                  <a:spcPts val="0"/>
                </a:spcAft>
                <a:buNone/>
              </a:pPr>
              <a: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[[ 50, 30, ...]</a:t>
              </a:r>
              <a:b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[ 10, 15, ...]</a:t>
              </a:r>
              <a:b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</a:br>
              <a:r>
                <a:rPr b="1" lang="en-US" sz="1064">
                  <a:solidFill>
                    <a:srgbClr val="CBE9D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[240, 180, ...]]</a:t>
              </a:r>
              <a:endParaRPr b="1" sz="1064">
                <a:solidFill>
                  <a:srgbClr val="CBE9D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440"/>
                </a:spcBef>
                <a:spcAft>
                  <a:spcPts val="0"/>
                </a:spcAft>
                <a:buNone/>
              </a:pPr>
              <a:r>
                <a:rPr b="0" lang="en-US" sz="1064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Third matrix plane representing the blue color values.</a:t>
              </a:r>
              <a:endParaRPr b="0" sz="1064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4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THE CLEVER PART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Pairing Poses with IoU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640080" y="1417320"/>
            <a:ext cx="61264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The model returns animals and poses as separate boxes. To say “cow (stand)”, VisionBox measures how much each pose box overlaps each animal box using Intersection over Union (IoU).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640080" y="2697480"/>
            <a:ext cx="6126480" cy="914400"/>
          </a:xfrm>
          <a:prstGeom prst="roundRect">
            <a:avLst>
              <a:gd fmla="val 10000" name="adj"/>
            </a:avLst>
          </a:prstGeom>
          <a:solidFill>
            <a:srgbClr val="0F172A"/>
          </a:solidFill>
          <a:ln>
            <a:noFill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822960" y="2697480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IoU  =  </a:t>
            </a:r>
            <a:r>
              <a:rPr b="1" lang="en-US" sz="1800">
                <a:solidFill>
                  <a:srgbClr val="12D66E"/>
                </a:solidFill>
                <a:latin typeface="Courier New"/>
                <a:ea typeface="Courier New"/>
                <a:cs typeface="Courier New"/>
                <a:sym typeface="Courier New"/>
              </a:rPr>
              <a:t>Area of Overlap</a:t>
            </a:r>
            <a:r>
              <a:rPr lang="en-US" sz="18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rPr>
              <a:t>  /  </a:t>
            </a:r>
            <a:r>
              <a:rPr b="1" lang="en-US" sz="1800">
                <a:solidFill>
                  <a:srgbClr val="CBE9D8"/>
                </a:solidFill>
                <a:latin typeface="Courier New"/>
                <a:ea typeface="Courier New"/>
                <a:cs typeface="Courier New"/>
                <a:sym typeface="Courier New"/>
              </a:rPr>
              <a:t>Area of Union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658368" y="3840480"/>
            <a:ext cx="310896" cy="310896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eck_g.png" id="444" name="Google Shape;4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201" y="3921313"/>
            <a:ext cx="149230" cy="14923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14"/>
          <p:cNvSpPr/>
          <p:nvPr/>
        </p:nvSpPr>
        <p:spPr>
          <a:xfrm>
            <a:off x="1097280" y="3803904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Highest overlap wins  —  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animal keeps the pose box it overlaps most.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658368" y="4443984"/>
            <a:ext cx="310896" cy="310896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eck_g.png" id="447" name="Google Shape;44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201" y="4524817"/>
            <a:ext cx="149230" cy="14923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4"/>
          <p:cNvSpPr/>
          <p:nvPr/>
        </p:nvSpPr>
        <p:spPr>
          <a:xfrm>
            <a:off x="1097280" y="4407408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Threshold = 0.3  —  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Overlaps below 0.3 IoU are ignored as too weak to pair.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658368" y="5047488"/>
            <a:ext cx="310896" cy="310896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eck_g.png" id="450" name="Google Shape;4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201" y="5128321"/>
            <a:ext cx="149230" cy="14923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4"/>
          <p:cNvSpPr/>
          <p:nvPr/>
        </p:nvSpPr>
        <p:spPr>
          <a:xfrm>
            <a:off x="1097280" y="5010912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6233B"/>
                </a:solidFill>
                <a:latin typeface="Calibri"/>
                <a:ea typeface="Calibri"/>
                <a:cs typeface="Calibri"/>
                <a:sym typeface="Calibri"/>
              </a:rPr>
              <a:t>Nothing is dropped  —  </a:t>
            </a: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Unmatched poses are still reported on their own row.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7406640" y="1783080"/>
            <a:ext cx="4114800" cy="4023360"/>
          </a:xfrm>
          <a:prstGeom prst="roundRect">
            <a:avLst>
              <a:gd fmla="val 2727" name="adj"/>
            </a:avLst>
          </a:prstGeom>
          <a:solidFill>
            <a:srgbClr val="0F1B2D"/>
          </a:solidFill>
          <a:ln>
            <a:noFill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8961120" y="2971800"/>
            <a:ext cx="1188720" cy="1645920"/>
          </a:xfrm>
          <a:prstGeom prst="rect">
            <a:avLst/>
          </a:prstGeom>
          <a:solidFill>
            <a:srgbClr val="00B45A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8046720" y="2560320"/>
            <a:ext cx="2103120" cy="2057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4"/>
          <p:cNvSpPr/>
          <p:nvPr/>
        </p:nvSpPr>
        <p:spPr>
          <a:xfrm>
            <a:off x="8961120" y="2971800"/>
            <a:ext cx="1920240" cy="178308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0EA5A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8046720" y="2267712"/>
            <a:ext cx="914400" cy="274320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8046720" y="22677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animal box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9829800" y="4791456"/>
            <a:ext cx="764438" cy="274320"/>
          </a:xfrm>
          <a:prstGeom prst="rect">
            <a:avLst/>
          </a:prstGeom>
          <a:solidFill>
            <a:srgbClr val="0EA5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9829800" y="4791456"/>
            <a:ext cx="7644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pose box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8869680" y="365760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overlap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7680960" y="538581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E9D8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CBE9D8"/>
                </a:solidFill>
                <a:latin typeface="Calibri"/>
                <a:ea typeface="Calibri"/>
                <a:cs typeface="Calibri"/>
                <a:sym typeface="Calibri"/>
              </a:rPr>
              <a:t>If overlap ÷ union ≥ 0.3, the pose belongs to that animal.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5"/>
          <p:cNvSpPr/>
          <p:nvPr/>
        </p:nvSpPr>
        <p:spPr>
          <a:xfrm>
            <a:off x="640080" y="457200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PROJECT INTERNALS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621792" y="749808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Inside the Code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640080" y="1691640"/>
            <a:ext cx="4206240" cy="4160520"/>
          </a:xfrm>
          <a:prstGeom prst="roundRect">
            <a:avLst>
              <a:gd fmla="val 2198" name="adj"/>
            </a:avLst>
          </a:prstGeom>
          <a:solidFill>
            <a:srgbClr val="0B1322"/>
          </a:solidFill>
          <a:ln cap="flat" cmpd="sng" w="12700">
            <a:solidFill>
              <a:srgbClr val="24344C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914400" y="18745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12D66E"/>
                </a:solidFill>
                <a:latin typeface="Courier New"/>
                <a:ea typeface="Courier New"/>
                <a:cs typeface="Courier New"/>
                <a:sym typeface="Courier New"/>
              </a:rPr>
              <a:t>visionbox/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914400" y="233172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lang="en-US" sz="12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app.py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3063240" y="2331720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Streamlit UI &amp; workflow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914400" y="283464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├─ animals.pt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3063240" y="2834640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fine-tuned YOLOv11 weights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914400" y="333756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urier New"/>
              <a:buNone/>
            </a:pPr>
            <a:r>
              <a:rPr b="1" lang="en-US" sz="12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 utils/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914400" y="384048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├─   detector.py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3063240" y="3840480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inference + IoU pairing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914400" y="434340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├─   helpers.py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3063240" y="4343400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stats &amp; export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914400" y="484632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├─ requirements.txt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3063240" y="4846320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dependencies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914400" y="5349240"/>
            <a:ext cx="2286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Courier New"/>
              <a:buNone/>
            </a:pPr>
            <a:r>
              <a:rPr lang="en-US" sz="1250">
                <a:solidFill>
                  <a:srgbClr val="CBD5E1"/>
                </a:solidFill>
                <a:latin typeface="Courier New"/>
                <a:ea typeface="Courier New"/>
                <a:cs typeface="Courier New"/>
                <a:sym typeface="Courier New"/>
              </a:rPr>
              <a:t>├─ README.md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3063240" y="5349240"/>
            <a:ext cx="1691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docs &amp; workshop notes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5166360" y="1783080"/>
            <a:ext cx="6355080" cy="91440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5394960" y="2039112"/>
            <a:ext cx="402336" cy="402336"/>
          </a:xfrm>
          <a:prstGeom prst="ellipse">
            <a:avLst/>
          </a:prstGeom>
          <a:solidFill>
            <a:srgbClr val="0F172A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robot_g.png" id="488" name="Google Shape;48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9567" y="2143719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5"/>
          <p:cNvSpPr/>
          <p:nvPr/>
        </p:nvSpPr>
        <p:spPr>
          <a:xfrm>
            <a:off x="5943600" y="1911096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12D66E"/>
                </a:solidFill>
                <a:latin typeface="Courier New"/>
                <a:ea typeface="Courier New"/>
                <a:cs typeface="Courier New"/>
                <a:sym typeface="Courier New"/>
              </a:rPr>
              <a:t>detect_objects()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5943600" y="2212848"/>
            <a:ext cx="5440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Loads animals.pt once (cached) and runs YOLO11 on the image array.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5166360" y="2816352"/>
            <a:ext cx="6355080" cy="91440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5394960" y="3072384"/>
            <a:ext cx="402336" cy="402336"/>
          </a:xfrm>
          <a:prstGeom prst="ellipse">
            <a:avLst/>
          </a:prstGeom>
          <a:solidFill>
            <a:srgbClr val="0F172A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rop_g.png" id="493" name="Google Shape;49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99567" y="3176991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5"/>
          <p:cNvSpPr/>
          <p:nvPr/>
        </p:nvSpPr>
        <p:spPr>
          <a:xfrm>
            <a:off x="5943600" y="2944368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12D66E"/>
                </a:solidFill>
                <a:latin typeface="Courier New"/>
                <a:ea typeface="Courier New"/>
                <a:cs typeface="Courier New"/>
                <a:sym typeface="Courier New"/>
              </a:rPr>
              <a:t>pair_detections()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5943600" y="3246120"/>
            <a:ext cx="5440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Computes IoU and merges each pose with the right animal box.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5166360" y="3849624"/>
            <a:ext cx="6355080" cy="91440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5394960" y="4105656"/>
            <a:ext cx="402336" cy="402336"/>
          </a:xfrm>
          <a:prstGeom prst="ellipse">
            <a:avLst/>
          </a:prstGeom>
          <a:solidFill>
            <a:srgbClr val="0F172A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image_g.png" id="498" name="Google Shape;49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99567" y="4210263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15"/>
          <p:cNvSpPr/>
          <p:nvPr/>
        </p:nvSpPr>
        <p:spPr>
          <a:xfrm>
            <a:off x="5943600" y="3977640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12D66E"/>
                </a:solidFill>
                <a:latin typeface="Courier New"/>
                <a:ea typeface="Courier New"/>
                <a:cs typeface="Courier New"/>
                <a:sym typeface="Courier New"/>
              </a:rPr>
              <a:t>draw_detections()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5943600" y="4279392"/>
            <a:ext cx="5440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Uses OpenCV to paint green boxes + “class (pose) score” labels.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5166360" y="4882896"/>
            <a:ext cx="6355080" cy="914400"/>
          </a:xfrm>
          <a:prstGeom prst="roundRect">
            <a:avLst>
              <a:gd fmla="val 800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5394960" y="5138928"/>
            <a:ext cx="402336" cy="402336"/>
          </a:xfrm>
          <a:prstGeom prst="ellipse">
            <a:avLst/>
          </a:prstGeom>
          <a:solidFill>
            <a:srgbClr val="0F172A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art_g.png" id="503" name="Google Shape;50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99567" y="5243535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5"/>
          <p:cNvSpPr/>
          <p:nvPr/>
        </p:nvSpPr>
        <p:spPr>
          <a:xfrm>
            <a:off x="5943600" y="5010912"/>
            <a:ext cx="5394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12D66E"/>
                </a:solidFill>
                <a:latin typeface="Courier New"/>
                <a:ea typeface="Courier New"/>
                <a:cs typeface="Courier New"/>
                <a:sym typeface="Courier New"/>
              </a:rPr>
              <a:t>get_detection_stats()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5943600" y="5312664"/>
            <a:ext cx="5440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Unique classes, highest confidence and the top prediction.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6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WHAT YOU CAN DO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Key Features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640080" y="1508760"/>
            <a:ext cx="3456432" cy="1755648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6"/>
          <p:cNvSpPr/>
          <p:nvPr/>
        </p:nvSpPr>
        <p:spPr>
          <a:xfrm>
            <a:off x="914400" y="1783080"/>
            <a:ext cx="566928" cy="566928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upload_g.png" id="517" name="Google Shape;5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801" y="193048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6"/>
          <p:cNvSpPr/>
          <p:nvPr/>
        </p:nvSpPr>
        <p:spPr>
          <a:xfrm>
            <a:off x="914400" y="2441448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Upload or webcam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914400" y="2752344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Drop in a JPG/PNG, or snap a photo straight from the browser camera.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4425696" y="1508760"/>
            <a:ext cx="3456432" cy="1755648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4700016" y="1783080"/>
            <a:ext cx="566928" cy="566928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sliders_g.png" id="522" name="Google Shape;5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7417" y="193048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16"/>
          <p:cNvSpPr/>
          <p:nvPr/>
        </p:nvSpPr>
        <p:spPr>
          <a:xfrm>
            <a:off x="4700016" y="2441448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Confidence slider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4700016" y="2752344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Tune the threshold live to keep only predictions you trust.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8211312" y="1508760"/>
            <a:ext cx="3456432" cy="1755648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6"/>
          <p:cNvSpPr/>
          <p:nvPr/>
        </p:nvSpPr>
        <p:spPr>
          <a:xfrm>
            <a:off x="8485632" y="1783080"/>
            <a:ext cx="566928" cy="566928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rop_g.png" id="527" name="Google Shape;52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33033" y="1930481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6"/>
          <p:cNvSpPr/>
          <p:nvPr/>
        </p:nvSpPr>
        <p:spPr>
          <a:xfrm>
            <a:off x="8485632" y="2441448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Boxes + poses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8485632" y="2752344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See green bounding boxes labelled with animal, pose and score.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640080" y="3575304"/>
            <a:ext cx="3456432" cy="1755648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914400" y="3849624"/>
            <a:ext cx="566928" cy="566928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table_g.png" id="532" name="Google Shape;5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1801" y="3997025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16"/>
          <p:cNvSpPr/>
          <p:nvPr/>
        </p:nvSpPr>
        <p:spPr>
          <a:xfrm>
            <a:off x="914400" y="450799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Detection table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914400" y="4818888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Class, position, confidence and exact box coordinates per object.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4425696" y="3575304"/>
            <a:ext cx="3456432" cy="1755648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6"/>
          <p:cNvSpPr/>
          <p:nvPr/>
        </p:nvSpPr>
        <p:spPr>
          <a:xfrm>
            <a:off x="4700016" y="3849624"/>
            <a:ext cx="566928" cy="566928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art_g.png" id="537" name="Google Shape;5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7417" y="3997025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16"/>
          <p:cNvSpPr/>
          <p:nvPr/>
        </p:nvSpPr>
        <p:spPr>
          <a:xfrm>
            <a:off x="4700016" y="450799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Instant statistics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4700016" y="4818888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Object count, unique classes, top prediction and the top-5 list.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8211312" y="3575304"/>
            <a:ext cx="3456432" cy="1755648"/>
          </a:xfrm>
          <a:prstGeom prst="roundRect">
            <a:avLst>
              <a:gd fmla="val 468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6"/>
          <p:cNvSpPr/>
          <p:nvPr/>
        </p:nvSpPr>
        <p:spPr>
          <a:xfrm>
            <a:off x="8485632" y="3849624"/>
            <a:ext cx="566928" cy="566928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download_g.png" id="542" name="Google Shape;5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33033" y="3997025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6"/>
          <p:cNvSpPr/>
          <p:nvPr/>
        </p:nvSpPr>
        <p:spPr>
          <a:xfrm>
            <a:off x="8485632" y="450799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Download result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8485632" y="4818888"/>
            <a:ext cx="2907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Export the annotated image as a JPEG with a single click.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7"/>
          <p:cNvSpPr txBox="1"/>
          <p:nvPr/>
        </p:nvSpPr>
        <p:spPr>
          <a:xfrm>
            <a:off x="640080" y="384048"/>
            <a:ext cx="1005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GETTING STARTED</a:t>
            </a:r>
            <a:endParaRPr b="1" sz="1200">
              <a:solidFill>
                <a:srgbClr val="00B4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7"/>
          <p:cNvSpPr txBox="1"/>
          <p:nvPr/>
        </p:nvSpPr>
        <p:spPr>
          <a:xfrm>
            <a:off x="621792" y="676656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Clone the Starter Template</a:t>
            </a:r>
            <a:endParaRPr b="1" sz="3000">
              <a:solidFill>
                <a:srgbClr val="1623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7"/>
          <p:cNvSpPr txBox="1"/>
          <p:nvPr/>
        </p:nvSpPr>
        <p:spPr>
          <a:xfrm>
            <a:off x="640080" y="1417320"/>
            <a:ext cx="1088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 help you skip the boilerplate setup, a complete starter repository is ready on GitHub. Follow the steps below to clone it locally and begin the workshop.</a:t>
            </a:r>
            <a:endParaRPr b="0" sz="145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640080" y="2095500"/>
            <a:ext cx="10911900" cy="762000"/>
          </a:xfrm>
          <a:prstGeom prst="roundRect">
            <a:avLst>
              <a:gd fmla="val 12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7"/>
          <p:cNvSpPr txBox="1"/>
          <p:nvPr/>
        </p:nvSpPr>
        <p:spPr>
          <a:xfrm>
            <a:off x="914400" y="20955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git clone </a:t>
            </a:r>
            <a:r>
              <a:rPr b="1" lang="en-US" sz="135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https://github.com/devMonkRahul/visionbox-workshop-starter-template</a:t>
            </a:r>
            <a:endParaRPr b="1" sz="135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556" name="Google Shape;556;p17"/>
          <p:cNvGrpSpPr/>
          <p:nvPr/>
        </p:nvGrpSpPr>
        <p:grpSpPr>
          <a:xfrm>
            <a:off x="640080" y="3238500"/>
            <a:ext cx="3429000" cy="2476500"/>
            <a:chOff x="0" y="0"/>
            <a:chExt cx="3429000" cy="2476500"/>
          </a:xfrm>
        </p:grpSpPr>
        <p:sp>
          <p:nvSpPr>
            <p:cNvPr id="557" name="Google Shape;557;p17"/>
            <p:cNvSpPr/>
            <p:nvPr/>
          </p:nvSpPr>
          <p:spPr>
            <a:xfrm>
              <a:off x="0" y="0"/>
              <a:ext cx="3429000" cy="2476500"/>
            </a:xfrm>
            <a:prstGeom prst="roundRect">
              <a:avLst>
                <a:gd fmla="val 3307" name="adj"/>
              </a:avLst>
            </a:prstGeom>
            <a:solidFill>
              <a:srgbClr val="FFFFFF"/>
            </a:solidFill>
            <a:ln cap="flat" cmpd="sng" w="126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7"/>
            <p:cNvSpPr/>
            <p:nvPr/>
          </p:nvSpPr>
          <p:spPr>
            <a:xfrm>
              <a:off x="216728" y="285750"/>
              <a:ext cx="457200" cy="457200"/>
            </a:xfrm>
            <a:prstGeom prst="ellipse">
              <a:avLst/>
            </a:prstGeom>
            <a:solidFill>
              <a:srgbClr val="F0FAF4"/>
            </a:solidFill>
            <a:ln cap="flat" cmpd="sng" w="15900">
              <a:solidFill>
                <a:srgbClr val="00B4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7"/>
            <p:cNvSpPr txBox="1"/>
            <p:nvPr/>
          </p:nvSpPr>
          <p:spPr>
            <a:xfrm>
              <a:off x="274318" y="397650"/>
              <a:ext cx="3543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0B45A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295"/>
            </a:p>
          </p:txBody>
        </p:sp>
        <p:sp>
          <p:nvSpPr>
            <p:cNvPr id="560" name="Google Shape;560;p17"/>
            <p:cNvSpPr txBox="1"/>
            <p:nvPr/>
          </p:nvSpPr>
          <p:spPr>
            <a:xfrm>
              <a:off x="202924" y="904875"/>
              <a:ext cx="2857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6233B"/>
                  </a:solidFill>
                  <a:latin typeface="Arial"/>
                  <a:ea typeface="Arial"/>
                  <a:cs typeface="Arial"/>
                  <a:sym typeface="Arial"/>
                </a:rPr>
                <a:t>Clone &amp; Navigate</a:t>
              </a:r>
              <a:endParaRPr b="1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7"/>
            <p:cNvSpPr txBox="1"/>
            <p:nvPr/>
          </p:nvSpPr>
          <p:spPr>
            <a:xfrm>
              <a:off x="202495" y="1285875"/>
              <a:ext cx="3024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Run the clone command in your terminal, then change your working directory into the project folder:</a:t>
              </a:r>
              <a:br>
                <a:rPr b="0"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n-US" sz="1000">
                  <a:solidFill>
                    <a:srgbClr val="00B4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cd visionbox-workshop-starter-template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17"/>
          <p:cNvGrpSpPr/>
          <p:nvPr/>
        </p:nvGrpSpPr>
        <p:grpSpPr>
          <a:xfrm>
            <a:off x="4381500" y="3238500"/>
            <a:ext cx="3429000" cy="2476500"/>
            <a:chOff x="0" y="0"/>
            <a:chExt cx="3429000" cy="2476500"/>
          </a:xfrm>
        </p:grpSpPr>
        <p:sp>
          <p:nvSpPr>
            <p:cNvPr id="563" name="Google Shape;563;p17"/>
            <p:cNvSpPr/>
            <p:nvPr/>
          </p:nvSpPr>
          <p:spPr>
            <a:xfrm>
              <a:off x="0" y="0"/>
              <a:ext cx="3429000" cy="2476500"/>
            </a:xfrm>
            <a:prstGeom prst="roundRect">
              <a:avLst>
                <a:gd fmla="val 3307" name="adj"/>
              </a:avLst>
            </a:prstGeom>
            <a:solidFill>
              <a:srgbClr val="FFFFFF"/>
            </a:solidFill>
            <a:ln cap="flat" cmpd="sng" w="126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285750" y="285750"/>
              <a:ext cx="457200" cy="457200"/>
            </a:xfrm>
            <a:prstGeom prst="ellipse">
              <a:avLst/>
            </a:prstGeom>
            <a:solidFill>
              <a:srgbClr val="F0FAF4"/>
            </a:solidFill>
            <a:ln cap="flat" cmpd="sng" w="15900">
              <a:solidFill>
                <a:srgbClr val="00B4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17"/>
            <p:cNvSpPr txBox="1"/>
            <p:nvPr/>
          </p:nvSpPr>
          <p:spPr>
            <a:xfrm>
              <a:off x="400050" y="4000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0B45A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295"/>
            </a:p>
          </p:txBody>
        </p:sp>
        <p:sp>
          <p:nvSpPr>
            <p:cNvPr id="566" name="Google Shape;566;p17"/>
            <p:cNvSpPr txBox="1"/>
            <p:nvPr/>
          </p:nvSpPr>
          <p:spPr>
            <a:xfrm>
              <a:off x="285750" y="904875"/>
              <a:ext cx="2857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6233B"/>
                  </a:solidFill>
                  <a:latin typeface="Arial"/>
                  <a:ea typeface="Arial"/>
                  <a:cs typeface="Arial"/>
                  <a:sym typeface="Arial"/>
                </a:rPr>
                <a:t>Install Dependencies</a:t>
              </a:r>
              <a:endParaRPr b="1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7"/>
            <p:cNvSpPr txBox="1"/>
            <p:nvPr/>
          </p:nvSpPr>
          <p:spPr>
            <a:xfrm>
              <a:off x="285750" y="1285875"/>
              <a:ext cx="285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Set up your virtual environment and install all package requirements using uv or pip:</a:t>
              </a:r>
              <a:br>
                <a:rPr b="0"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n-US" sz="1200">
                  <a:solidFill>
                    <a:srgbClr val="00B4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uv sync</a:t>
              </a:r>
              <a:endParaRPr b="0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 b="0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B4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pip install -r requirements.txt</a:t>
              </a:r>
              <a:endParaRPr b="0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p17"/>
          <p:cNvGrpSpPr/>
          <p:nvPr/>
        </p:nvGrpSpPr>
        <p:grpSpPr>
          <a:xfrm>
            <a:off x="8122920" y="3238500"/>
            <a:ext cx="3429000" cy="2476500"/>
            <a:chOff x="0" y="0"/>
            <a:chExt cx="3429000" cy="2476500"/>
          </a:xfrm>
        </p:grpSpPr>
        <p:sp>
          <p:nvSpPr>
            <p:cNvPr id="569" name="Google Shape;569;p17"/>
            <p:cNvSpPr/>
            <p:nvPr/>
          </p:nvSpPr>
          <p:spPr>
            <a:xfrm>
              <a:off x="0" y="0"/>
              <a:ext cx="3429000" cy="2476500"/>
            </a:xfrm>
            <a:prstGeom prst="roundRect">
              <a:avLst>
                <a:gd fmla="val 3307" name="adj"/>
              </a:avLst>
            </a:prstGeom>
            <a:solidFill>
              <a:srgbClr val="F0FAF4"/>
            </a:solidFill>
            <a:ln cap="flat" cmpd="sng" w="1267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285750" y="285750"/>
              <a:ext cx="457200" cy="457200"/>
            </a:xfrm>
            <a:prstGeom prst="ellipse">
              <a:avLst/>
            </a:prstGeom>
            <a:solidFill>
              <a:srgbClr val="F0FAF4"/>
            </a:solidFill>
            <a:ln cap="flat" cmpd="sng" w="15900">
              <a:solidFill>
                <a:srgbClr val="00B45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7"/>
            <p:cNvSpPr txBox="1"/>
            <p:nvPr/>
          </p:nvSpPr>
          <p:spPr>
            <a:xfrm>
              <a:off x="400050" y="4000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00B45A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1295"/>
            </a:p>
          </p:txBody>
        </p:sp>
        <p:sp>
          <p:nvSpPr>
            <p:cNvPr id="572" name="Google Shape;572;p17"/>
            <p:cNvSpPr txBox="1"/>
            <p:nvPr/>
          </p:nvSpPr>
          <p:spPr>
            <a:xfrm>
              <a:off x="285750" y="904875"/>
              <a:ext cx="2857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6233B"/>
                  </a:solidFill>
                  <a:latin typeface="Arial"/>
                  <a:ea typeface="Arial"/>
                  <a:cs typeface="Arial"/>
                  <a:sym typeface="Arial"/>
                </a:rPr>
                <a:t>Launch the App</a:t>
              </a:r>
              <a:endParaRPr b="1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7"/>
            <p:cNvSpPr txBox="1"/>
            <p:nvPr/>
          </p:nvSpPr>
          <p:spPr>
            <a:xfrm>
              <a:off x="285750" y="1285875"/>
              <a:ext cx="2857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Start the local Streamlit server to open the interactive workshop environment in your browser:</a:t>
              </a:r>
              <a:br>
                <a:rPr b="0" lang="en-US" sz="12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en-US" sz="1200">
                  <a:solidFill>
                    <a:srgbClr val="00B45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streamlit run app.py</a:t>
              </a:r>
              <a:endParaRPr b="0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4" name="Google Shape;574;p17"/>
          <p:cNvSpPr txBox="1"/>
          <p:nvPr/>
        </p:nvSpPr>
        <p:spPr>
          <a:xfrm>
            <a:off x="640080" y="640080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b="1" sz="1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8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USING THE APP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From Photo to Result in 5 Steps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/>
          <p:nvPr/>
        </p:nvSpPr>
        <p:spPr>
          <a:xfrm>
            <a:off x="1088136" y="2148840"/>
            <a:ext cx="27432" cy="3364992"/>
          </a:xfrm>
          <a:prstGeom prst="rect">
            <a:avLst/>
          </a:prstGeom>
          <a:solidFill>
            <a:srgbClr val="CBE9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8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00B45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B112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8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8"/>
          <p:cNvSpPr/>
          <p:nvPr/>
        </p:nvSpPr>
        <p:spPr>
          <a:xfrm>
            <a:off x="1645920" y="1883664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Add an image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1645920" y="21945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Upload a file or capture a webcam snapshot in the app.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/>
          <p:nvPr/>
        </p:nvSpPr>
        <p:spPr>
          <a:xfrm>
            <a:off x="868680" y="2761488"/>
            <a:ext cx="502920" cy="502920"/>
          </a:xfrm>
          <a:prstGeom prst="ellipse">
            <a:avLst/>
          </a:prstGeom>
          <a:solidFill>
            <a:srgbClr val="00B45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B112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8"/>
          <p:cNvSpPr/>
          <p:nvPr/>
        </p:nvSpPr>
        <p:spPr>
          <a:xfrm>
            <a:off x="868680" y="276148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1645920" y="2724912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Set confidence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8"/>
          <p:cNvSpPr/>
          <p:nvPr/>
        </p:nvSpPr>
        <p:spPr>
          <a:xfrm>
            <a:off x="1645920" y="303580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Drag the sidebar slider to your preferred threshold.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8"/>
          <p:cNvSpPr/>
          <p:nvPr/>
        </p:nvSpPr>
        <p:spPr>
          <a:xfrm>
            <a:off x="868680" y="3602736"/>
            <a:ext cx="502920" cy="502920"/>
          </a:xfrm>
          <a:prstGeom prst="ellipse">
            <a:avLst/>
          </a:prstGeom>
          <a:solidFill>
            <a:srgbClr val="00B45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B112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8"/>
          <p:cNvSpPr/>
          <p:nvPr/>
        </p:nvSpPr>
        <p:spPr>
          <a:xfrm>
            <a:off x="868680" y="36027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8"/>
          <p:cNvSpPr/>
          <p:nvPr/>
        </p:nvSpPr>
        <p:spPr>
          <a:xfrm>
            <a:off x="1645920" y="356616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Run detection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8"/>
          <p:cNvSpPr/>
          <p:nvPr/>
        </p:nvSpPr>
        <p:spPr>
          <a:xfrm>
            <a:off x="1645920" y="3877056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Click “Run object detection” and let YOLOv11 work.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8"/>
          <p:cNvSpPr/>
          <p:nvPr/>
        </p:nvSpPr>
        <p:spPr>
          <a:xfrm>
            <a:off x="868680" y="4443984"/>
            <a:ext cx="502920" cy="502920"/>
          </a:xfrm>
          <a:prstGeom prst="ellipse">
            <a:avLst/>
          </a:prstGeom>
          <a:solidFill>
            <a:srgbClr val="00B45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B112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8"/>
          <p:cNvSpPr/>
          <p:nvPr/>
        </p:nvSpPr>
        <p:spPr>
          <a:xfrm>
            <a:off x="868680" y="444398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8"/>
          <p:cNvSpPr/>
          <p:nvPr/>
        </p:nvSpPr>
        <p:spPr>
          <a:xfrm>
            <a:off x="1645920" y="4407408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Read results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8"/>
          <p:cNvSpPr/>
          <p:nvPr/>
        </p:nvSpPr>
        <p:spPr>
          <a:xfrm>
            <a:off x="1645920" y="4718304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Inspect the annotated image, table and statistics.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8"/>
          <p:cNvSpPr/>
          <p:nvPr/>
        </p:nvSpPr>
        <p:spPr>
          <a:xfrm>
            <a:off x="868680" y="5285232"/>
            <a:ext cx="502920" cy="502920"/>
          </a:xfrm>
          <a:prstGeom prst="ellipse">
            <a:avLst/>
          </a:prstGeom>
          <a:solidFill>
            <a:srgbClr val="00B45A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38100">
              <a:srgbClr val="0B112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8"/>
          <p:cNvSpPr/>
          <p:nvPr/>
        </p:nvSpPr>
        <p:spPr>
          <a:xfrm>
            <a:off x="868680" y="528523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8"/>
          <p:cNvSpPr/>
          <p:nvPr/>
        </p:nvSpPr>
        <p:spPr>
          <a:xfrm>
            <a:off x="1645920" y="5248656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Download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8"/>
          <p:cNvSpPr/>
          <p:nvPr/>
        </p:nvSpPr>
        <p:spPr>
          <a:xfrm>
            <a:off x="1645920" y="555955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Save the labelled image to share or submit.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bg/scene.png" id="603" name="Google Shape;60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0880" y="1691640"/>
            <a:ext cx="448056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8"/>
          <p:cNvSpPr/>
          <p:nvPr/>
        </p:nvSpPr>
        <p:spPr>
          <a:xfrm>
            <a:off x="7040880" y="1691640"/>
            <a:ext cx="4480560" cy="3657600"/>
          </a:xfrm>
          <a:prstGeom prst="roundRect">
            <a:avLst>
              <a:gd fmla="val 3000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animals/dog_w.png" id="605" name="Google Shape;60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7873" y="2931164"/>
            <a:ext cx="1483961" cy="1690616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18"/>
          <p:cNvSpPr/>
          <p:nvPr/>
        </p:nvSpPr>
        <p:spPr>
          <a:xfrm>
            <a:off x="7399325" y="2642616"/>
            <a:ext cx="2061058" cy="2267712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8"/>
          <p:cNvSpPr/>
          <p:nvPr/>
        </p:nvSpPr>
        <p:spPr>
          <a:xfrm>
            <a:off x="7399325" y="2386584"/>
            <a:ext cx="1289304" cy="246888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8"/>
          <p:cNvSpPr/>
          <p:nvPr/>
        </p:nvSpPr>
        <p:spPr>
          <a:xfrm>
            <a:off x="7399325" y="2386584"/>
            <a:ext cx="1289304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dog (sit)  0.95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animals/cow_w.png" id="609" name="Google Shape;60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7192" y="3191256"/>
            <a:ext cx="1369771" cy="131673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18"/>
          <p:cNvSpPr/>
          <p:nvPr/>
        </p:nvSpPr>
        <p:spPr>
          <a:xfrm>
            <a:off x="9281160" y="2935224"/>
            <a:ext cx="1881835" cy="1828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285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8"/>
          <p:cNvSpPr/>
          <p:nvPr/>
        </p:nvSpPr>
        <p:spPr>
          <a:xfrm>
            <a:off x="9281160" y="2679192"/>
            <a:ext cx="1364285" cy="246888"/>
          </a:xfrm>
          <a:prstGeom prst="rect">
            <a:avLst/>
          </a:prstGeom>
          <a:solidFill>
            <a:srgbClr val="00B4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8"/>
          <p:cNvSpPr/>
          <p:nvPr/>
        </p:nvSpPr>
        <p:spPr>
          <a:xfrm>
            <a:off x="9281160" y="2679192"/>
            <a:ext cx="136428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cow (stand)  0.9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7132320" y="1783080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8"/>
          <p:cNvSpPr/>
          <p:nvPr/>
        </p:nvSpPr>
        <p:spPr>
          <a:xfrm>
            <a:off x="7132320" y="178308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8"/>
          <p:cNvSpPr/>
          <p:nvPr/>
        </p:nvSpPr>
        <p:spPr>
          <a:xfrm>
            <a:off x="11155680" y="1783080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8"/>
          <p:cNvSpPr/>
          <p:nvPr/>
        </p:nvSpPr>
        <p:spPr>
          <a:xfrm>
            <a:off x="11388852" y="178308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8"/>
          <p:cNvSpPr/>
          <p:nvPr/>
        </p:nvSpPr>
        <p:spPr>
          <a:xfrm>
            <a:off x="7132320" y="5216652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8"/>
          <p:cNvSpPr/>
          <p:nvPr/>
        </p:nvSpPr>
        <p:spPr>
          <a:xfrm>
            <a:off x="7132320" y="498348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8"/>
          <p:cNvSpPr/>
          <p:nvPr/>
        </p:nvSpPr>
        <p:spPr>
          <a:xfrm>
            <a:off x="11155680" y="5216652"/>
            <a:ext cx="274320" cy="41148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8"/>
          <p:cNvSpPr/>
          <p:nvPr/>
        </p:nvSpPr>
        <p:spPr>
          <a:xfrm>
            <a:off x="11388852" y="4983480"/>
            <a:ext cx="41148" cy="2743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8"/>
          <p:cNvSpPr/>
          <p:nvPr/>
        </p:nvSpPr>
        <p:spPr>
          <a:xfrm>
            <a:off x="7040880" y="5413248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annotated result, ready to download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19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WORKSHOP VALUE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9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What Students Take Away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9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VisionBox is a teaching tool first. By the end of the session, students can explain the ideas behind every result on screen.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640080" y="2057400"/>
            <a:ext cx="5303520" cy="1207008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B112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9"/>
          <p:cNvSpPr/>
          <p:nvPr/>
        </p:nvSpPr>
        <p:spPr>
          <a:xfrm>
            <a:off x="914400" y="2441448"/>
            <a:ext cx="457200" cy="45720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eye_g.png" id="634" name="Google Shape;63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272" y="25603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19"/>
          <p:cNvSpPr/>
          <p:nvPr/>
        </p:nvSpPr>
        <p:spPr>
          <a:xfrm>
            <a:off x="1554480" y="225856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What Computer Vision is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9"/>
          <p:cNvSpPr/>
          <p:nvPr/>
        </p:nvSpPr>
        <p:spPr>
          <a:xfrm>
            <a:off x="1554480" y="2660904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machines turn pixels into meaning.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9"/>
          <p:cNvSpPr/>
          <p:nvPr/>
        </p:nvSpPr>
        <p:spPr>
          <a:xfrm>
            <a:off x="6236208" y="2057400"/>
            <a:ext cx="5303520" cy="1207008"/>
          </a:xfrm>
          <a:prstGeom prst="roundRect">
            <a:avLst>
              <a:gd fmla="val 6818" name="adj"/>
            </a:avLst>
          </a:prstGeom>
          <a:solidFill>
            <a:srgbClr val="F0FAF4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B112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9"/>
          <p:cNvSpPr/>
          <p:nvPr/>
        </p:nvSpPr>
        <p:spPr>
          <a:xfrm>
            <a:off x="6510528" y="2441448"/>
            <a:ext cx="457200" cy="45720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rop_g.png" id="639" name="Google Shape;63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256032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19"/>
          <p:cNvSpPr/>
          <p:nvPr/>
        </p:nvSpPr>
        <p:spPr>
          <a:xfrm>
            <a:off x="7150608" y="225856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Classification vs detection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9"/>
          <p:cNvSpPr/>
          <p:nvPr/>
        </p:nvSpPr>
        <p:spPr>
          <a:xfrm>
            <a:off x="7150608" y="2660904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“where” matters as much as “what”.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9"/>
          <p:cNvSpPr/>
          <p:nvPr/>
        </p:nvSpPr>
        <p:spPr>
          <a:xfrm>
            <a:off x="640080" y="3502152"/>
            <a:ext cx="5303520" cy="1207008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B112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19"/>
          <p:cNvSpPr/>
          <p:nvPr/>
        </p:nvSpPr>
        <p:spPr>
          <a:xfrm>
            <a:off x="914400" y="3886200"/>
            <a:ext cx="457200" cy="45720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table_g.png" id="644" name="Google Shape;64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3272" y="40050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19"/>
          <p:cNvSpPr/>
          <p:nvPr/>
        </p:nvSpPr>
        <p:spPr>
          <a:xfrm>
            <a:off x="1554480" y="370332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Bounding boxes &amp; labels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9"/>
          <p:cNvSpPr/>
          <p:nvPr/>
        </p:nvSpPr>
        <p:spPr>
          <a:xfrm>
            <a:off x="1554480" y="4105656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Reading box coordinates and class names.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9"/>
          <p:cNvSpPr/>
          <p:nvPr/>
        </p:nvSpPr>
        <p:spPr>
          <a:xfrm>
            <a:off x="6236208" y="3502152"/>
            <a:ext cx="5303520" cy="1207008"/>
          </a:xfrm>
          <a:prstGeom prst="roundRect">
            <a:avLst>
              <a:gd fmla="val 6818" name="adj"/>
            </a:avLst>
          </a:prstGeom>
          <a:solidFill>
            <a:srgbClr val="F0FAF4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B112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9"/>
          <p:cNvSpPr/>
          <p:nvPr/>
        </p:nvSpPr>
        <p:spPr>
          <a:xfrm>
            <a:off x="6510528" y="3886200"/>
            <a:ext cx="457200" cy="45720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speed_g.png" id="649" name="Google Shape;64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40050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19"/>
          <p:cNvSpPr/>
          <p:nvPr/>
        </p:nvSpPr>
        <p:spPr>
          <a:xfrm>
            <a:off x="7150608" y="3703320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Confidence scores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9"/>
          <p:cNvSpPr/>
          <p:nvPr/>
        </p:nvSpPr>
        <p:spPr>
          <a:xfrm>
            <a:off x="7150608" y="4105656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a threshold filters predictions.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9"/>
          <p:cNvSpPr/>
          <p:nvPr/>
        </p:nvSpPr>
        <p:spPr>
          <a:xfrm>
            <a:off x="640080" y="4946904"/>
            <a:ext cx="5303520" cy="1207008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B112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9"/>
          <p:cNvSpPr/>
          <p:nvPr/>
        </p:nvSpPr>
        <p:spPr>
          <a:xfrm>
            <a:off x="914400" y="5330952"/>
            <a:ext cx="457200" cy="45720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layers_g.png" id="654" name="Google Shape;65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3272" y="54498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19"/>
          <p:cNvSpPr/>
          <p:nvPr/>
        </p:nvSpPr>
        <p:spPr>
          <a:xfrm>
            <a:off x="1554480" y="514807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Multi-class labels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9"/>
          <p:cNvSpPr/>
          <p:nvPr/>
        </p:nvSpPr>
        <p:spPr>
          <a:xfrm>
            <a:off x="1554480" y="5550408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animal + pose describe one subject.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9"/>
          <p:cNvSpPr/>
          <p:nvPr/>
        </p:nvSpPr>
        <p:spPr>
          <a:xfrm>
            <a:off x="6236208" y="4946904"/>
            <a:ext cx="5303520" cy="1207008"/>
          </a:xfrm>
          <a:prstGeom prst="roundRect">
            <a:avLst>
              <a:gd fmla="val 6818" name="adj"/>
            </a:avLst>
          </a:prstGeom>
          <a:solidFill>
            <a:srgbClr val="F0FAF4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0B112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9"/>
          <p:cNvSpPr/>
          <p:nvPr/>
        </p:nvSpPr>
        <p:spPr>
          <a:xfrm>
            <a:off x="6510528" y="5330952"/>
            <a:ext cx="457200" cy="457200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spark_g.png" id="659" name="Google Shape;65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54498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19"/>
          <p:cNvSpPr/>
          <p:nvPr/>
        </p:nvSpPr>
        <p:spPr>
          <a:xfrm>
            <a:off x="7150608" y="5148072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Why fine-tuning helps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9"/>
          <p:cNvSpPr/>
          <p:nvPr/>
        </p:nvSpPr>
        <p:spPr>
          <a:xfrm>
            <a:off x="7150608" y="5550408"/>
            <a:ext cx="4160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Adapting a general model to a new task.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9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2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5A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45A"/>
                </a:solidFill>
                <a:latin typeface="Arial"/>
                <a:ea typeface="Arial"/>
                <a:cs typeface="Arial"/>
                <a:sym typeface="Arial"/>
              </a:rPr>
              <a:t>THE ROAD AHEAD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0"/>
          <p:cNvSpPr/>
          <p:nvPr/>
        </p:nvSpPr>
        <p:spPr>
          <a:xfrm>
            <a:off x="621792" y="676656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Future Improvements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0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Where VisionBox can grow next: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0"/>
          <p:cNvSpPr/>
          <p:nvPr/>
        </p:nvSpPr>
        <p:spPr>
          <a:xfrm>
            <a:off x="640080" y="2011680"/>
            <a:ext cx="3456432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0"/>
          <p:cNvSpPr/>
          <p:nvPr/>
        </p:nvSpPr>
        <p:spPr>
          <a:xfrm>
            <a:off x="914400" y="2286000"/>
            <a:ext cx="530352" cy="530352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video_g.png" id="674" name="Google Shape;6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2292" y="242389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20"/>
          <p:cNvSpPr/>
          <p:nvPr/>
        </p:nvSpPr>
        <p:spPr>
          <a:xfrm>
            <a:off x="914400" y="2926080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Live video detection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0"/>
          <p:cNvSpPr/>
          <p:nvPr/>
        </p:nvSpPr>
        <p:spPr>
          <a:xfrm>
            <a:off x="914400" y="3236976"/>
            <a:ext cx="2907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Real-time streaming via a WebRTC Streamlit component.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0"/>
          <p:cNvSpPr/>
          <p:nvPr/>
        </p:nvSpPr>
        <p:spPr>
          <a:xfrm>
            <a:off x="4425696" y="2011680"/>
            <a:ext cx="3456432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0"/>
          <p:cNvSpPr/>
          <p:nvPr/>
        </p:nvSpPr>
        <p:spPr>
          <a:xfrm>
            <a:off x="4700016" y="2286000"/>
            <a:ext cx="530352" cy="530352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image_g.png" id="679" name="Google Shape;6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7908" y="242389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20"/>
          <p:cNvSpPr/>
          <p:nvPr/>
        </p:nvSpPr>
        <p:spPr>
          <a:xfrm>
            <a:off x="4700016" y="2926080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Short video files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0"/>
          <p:cNvSpPr/>
          <p:nvPr/>
        </p:nvSpPr>
        <p:spPr>
          <a:xfrm>
            <a:off x="4700016" y="3236976"/>
            <a:ext cx="2907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 detection frame-by-frame on uploaded clips.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0"/>
          <p:cNvSpPr/>
          <p:nvPr/>
        </p:nvSpPr>
        <p:spPr>
          <a:xfrm>
            <a:off x="8211312" y="2011680"/>
            <a:ext cx="3456432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0"/>
          <p:cNvSpPr/>
          <p:nvPr/>
        </p:nvSpPr>
        <p:spPr>
          <a:xfrm>
            <a:off x="8485632" y="2286000"/>
            <a:ext cx="530352" cy="530352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db_g.png" id="684" name="Google Shape;6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23524" y="2423892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20"/>
          <p:cNvSpPr/>
          <p:nvPr/>
        </p:nvSpPr>
        <p:spPr>
          <a:xfrm>
            <a:off x="8485632" y="2926080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Detection history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0"/>
          <p:cNvSpPr/>
          <p:nvPr/>
        </p:nvSpPr>
        <p:spPr>
          <a:xfrm>
            <a:off x="8485632" y="3236976"/>
            <a:ext cx="2907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Save past results so students can compare runs.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0"/>
          <p:cNvSpPr/>
          <p:nvPr/>
        </p:nvSpPr>
        <p:spPr>
          <a:xfrm>
            <a:off x="640080" y="4005072"/>
            <a:ext cx="3456432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0"/>
          <p:cNvSpPr/>
          <p:nvPr/>
        </p:nvSpPr>
        <p:spPr>
          <a:xfrm>
            <a:off x="914400" y="4279392"/>
            <a:ext cx="530352" cy="530352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hart_g.png" id="689" name="Google Shape;68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2292" y="4417284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20"/>
          <p:cNvSpPr/>
          <p:nvPr/>
        </p:nvSpPr>
        <p:spPr>
          <a:xfrm>
            <a:off x="914400" y="491947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Class-frequency charts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0"/>
          <p:cNvSpPr/>
          <p:nvPr/>
        </p:nvSpPr>
        <p:spPr>
          <a:xfrm>
            <a:off x="914400" y="5230368"/>
            <a:ext cx="2907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Visualise how often each class appears.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0"/>
          <p:cNvSpPr/>
          <p:nvPr/>
        </p:nvSpPr>
        <p:spPr>
          <a:xfrm>
            <a:off x="4425696" y="4005072"/>
            <a:ext cx="3456432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20"/>
          <p:cNvSpPr/>
          <p:nvPr/>
        </p:nvSpPr>
        <p:spPr>
          <a:xfrm>
            <a:off x="4700016" y="4279392"/>
            <a:ext cx="530352" cy="530352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layers_g.png" id="694" name="Google Shape;69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37908" y="4417284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20"/>
          <p:cNvSpPr/>
          <p:nvPr/>
        </p:nvSpPr>
        <p:spPr>
          <a:xfrm>
            <a:off x="4700016" y="491947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Compare model sizes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4700016" y="5230368"/>
            <a:ext cx="2907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Try different YOLOv11 variants side by side.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0"/>
          <p:cNvSpPr/>
          <p:nvPr/>
        </p:nvSpPr>
        <p:spPr>
          <a:xfrm>
            <a:off x="8211312" y="4005072"/>
            <a:ext cx="3456432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38100">
              <a:srgbClr val="0B112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0"/>
          <p:cNvSpPr/>
          <p:nvPr/>
        </p:nvSpPr>
        <p:spPr>
          <a:xfrm>
            <a:off x="8485632" y="4279392"/>
            <a:ext cx="530352" cy="530352"/>
          </a:xfrm>
          <a:prstGeom prst="ellipse">
            <a:avLst/>
          </a:prstGeom>
          <a:solidFill>
            <a:srgbClr val="F0FAF4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grad_g.png" id="699" name="Google Shape;69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23524" y="4417284"/>
            <a:ext cx="254569" cy="254569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20"/>
          <p:cNvSpPr/>
          <p:nvPr/>
        </p:nvSpPr>
        <p:spPr>
          <a:xfrm>
            <a:off x="8485632" y="4919472"/>
            <a:ext cx="2907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33B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6233B"/>
                </a:solidFill>
                <a:latin typeface="Arial"/>
                <a:ea typeface="Arial"/>
                <a:cs typeface="Arial"/>
                <a:sym typeface="Arial"/>
              </a:rPr>
              <a:t>In-app quiz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0"/>
          <p:cNvSpPr/>
          <p:nvPr/>
        </p:nvSpPr>
        <p:spPr>
          <a:xfrm>
            <a:off x="8485632" y="5230368"/>
            <a:ext cx="290779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 short quiz to reinforce workshop concepts.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0"/>
          <p:cNvSpPr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1"/>
          <p:cNvSpPr/>
          <p:nvPr/>
        </p:nvSpPr>
        <p:spPr>
          <a:xfrm>
            <a:off x="548640" y="548640"/>
            <a:ext cx="502920" cy="54864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1"/>
          <p:cNvSpPr/>
          <p:nvPr/>
        </p:nvSpPr>
        <p:spPr>
          <a:xfrm>
            <a:off x="548640" y="548640"/>
            <a:ext cx="54864" cy="5029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1"/>
          <p:cNvSpPr/>
          <p:nvPr/>
        </p:nvSpPr>
        <p:spPr>
          <a:xfrm>
            <a:off x="11140135" y="548640"/>
            <a:ext cx="502920" cy="54864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21"/>
          <p:cNvSpPr/>
          <p:nvPr/>
        </p:nvSpPr>
        <p:spPr>
          <a:xfrm>
            <a:off x="11588191" y="548640"/>
            <a:ext cx="54864" cy="5029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21"/>
          <p:cNvSpPr/>
          <p:nvPr/>
        </p:nvSpPr>
        <p:spPr>
          <a:xfrm>
            <a:off x="548640" y="6254496"/>
            <a:ext cx="502920" cy="54864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1"/>
          <p:cNvSpPr/>
          <p:nvPr/>
        </p:nvSpPr>
        <p:spPr>
          <a:xfrm>
            <a:off x="548640" y="5806440"/>
            <a:ext cx="54864" cy="5029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1"/>
          <p:cNvSpPr/>
          <p:nvPr/>
        </p:nvSpPr>
        <p:spPr>
          <a:xfrm>
            <a:off x="11140135" y="6254496"/>
            <a:ext cx="502920" cy="54864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21"/>
          <p:cNvSpPr/>
          <p:nvPr/>
        </p:nvSpPr>
        <p:spPr>
          <a:xfrm>
            <a:off x="11588191" y="5806440"/>
            <a:ext cx="54864" cy="502920"/>
          </a:xfrm>
          <a:prstGeom prst="rect">
            <a:avLst/>
          </a:prstGeom>
          <a:solidFill>
            <a:srgbClr val="12D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D66E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1"/>
          <p:cNvSpPr/>
          <p:nvPr/>
        </p:nvSpPr>
        <p:spPr>
          <a:xfrm>
            <a:off x="1078992" y="224028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lang="en-US" sz="4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See what your model sees.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1"/>
          <p:cNvSpPr/>
          <p:nvPr/>
        </p:nvSpPr>
        <p:spPr>
          <a:xfrm>
            <a:off x="1097280" y="3337560"/>
            <a:ext cx="7040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BE9D8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BE9D8"/>
                </a:solidFill>
                <a:latin typeface="Calibri"/>
                <a:ea typeface="Calibri"/>
                <a:cs typeface="Calibri"/>
                <a:sym typeface="Calibri"/>
              </a:rPr>
              <a:t>VisionBox turns a single photo into labelled animals, their poses, and the confidence behind every call — a hands-on first step into Computer Vision.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1"/>
          <p:cNvSpPr/>
          <p:nvPr/>
        </p:nvSpPr>
        <p:spPr>
          <a:xfrm>
            <a:off x="1097280" y="4434840"/>
            <a:ext cx="5760720" cy="685800"/>
          </a:xfrm>
          <a:prstGeom prst="roundRect">
            <a:avLst>
              <a:gd fmla="val 49333" name="adj"/>
            </a:avLst>
          </a:prstGeom>
          <a:solidFill>
            <a:srgbClr val="1E293B"/>
          </a:solidFill>
          <a:ln cap="flat" cmpd="sng" w="15875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assets/icons/code_w.png" id="721" name="Google Shape;7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4626864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21"/>
          <p:cNvSpPr/>
          <p:nvPr/>
        </p:nvSpPr>
        <p:spPr>
          <a:xfrm>
            <a:off x="1828800" y="443484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ourier New"/>
              <a:buNone/>
            </a:pPr>
            <a:r>
              <a:rPr b="1" lang="en-US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github.com/devMonkRahul/VisionBox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uild/assets/bg/scene.png" id="723" name="Google Shape;7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3657600"/>
            <a:ext cx="274320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21"/>
          <p:cNvSpPr/>
          <p:nvPr/>
        </p:nvSpPr>
        <p:spPr>
          <a:xfrm>
            <a:off x="8686800" y="3657600"/>
            <a:ext cx="2743200" cy="2377440"/>
          </a:xfrm>
          <a:prstGeom prst="roundRect">
            <a:avLst>
              <a:gd fmla="val 4615" name="adj"/>
            </a:avLst>
          </a:prstGeom>
          <a:solidFill>
            <a:srgbClr val="000000">
              <a:alpha val="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B112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5" name="Google Shape;72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08943" y="3996863"/>
            <a:ext cx="1698914" cy="16989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6" name="Google Shape;726;p21"/>
          <p:cNvGrpSpPr/>
          <p:nvPr/>
        </p:nvGrpSpPr>
        <p:grpSpPr>
          <a:xfrm>
            <a:off x="9155493" y="3795342"/>
            <a:ext cx="1750661" cy="1734160"/>
            <a:chOff x="8307739" y="1603400"/>
            <a:chExt cx="1750661" cy="1734160"/>
          </a:xfrm>
        </p:grpSpPr>
        <p:grpSp>
          <p:nvGrpSpPr>
            <p:cNvPr id="727" name="Google Shape;727;p21"/>
            <p:cNvGrpSpPr/>
            <p:nvPr/>
          </p:nvGrpSpPr>
          <p:grpSpPr>
            <a:xfrm>
              <a:off x="8412480" y="1607515"/>
              <a:ext cx="1645920" cy="1730045"/>
              <a:chOff x="9180576" y="4067251"/>
              <a:chExt cx="1645920" cy="1730045"/>
            </a:xfrm>
          </p:grpSpPr>
          <p:sp>
            <p:nvSpPr>
              <p:cNvPr id="728" name="Google Shape;728;p21"/>
              <p:cNvSpPr/>
              <p:nvPr/>
            </p:nvSpPr>
            <p:spPr>
              <a:xfrm>
                <a:off x="9180576" y="4323283"/>
                <a:ext cx="1645920" cy="1474013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00B45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21"/>
              <p:cNvSpPr/>
              <p:nvPr/>
            </p:nvSpPr>
            <p:spPr>
              <a:xfrm>
                <a:off x="9180576" y="4067251"/>
                <a:ext cx="1289304" cy="246888"/>
              </a:xfrm>
              <a:prstGeom prst="rect">
                <a:avLst/>
              </a:prstGeom>
              <a:solidFill>
                <a:srgbClr val="00B45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0" name="Google Shape;730;p21"/>
            <p:cNvSpPr/>
            <p:nvPr/>
          </p:nvSpPr>
          <p:spPr>
            <a:xfrm>
              <a:off x="8307739" y="1603400"/>
              <a:ext cx="1289304" cy="246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lang="en-US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cat (sit)  0.97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5" name="Google Shape;735;p22"/>
          <p:cNvPicPr preferRelativeResize="0"/>
          <p:nvPr/>
        </p:nvPicPr>
        <p:blipFill rotWithShape="1">
          <a:blip r:embed="rId4">
            <a:alphaModFix amt="15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36" name="Google Shape;736;p22"/>
          <p:cNvGrpSpPr/>
          <p:nvPr/>
        </p:nvGrpSpPr>
        <p:grpSpPr>
          <a:xfrm>
            <a:off x="548640" y="548640"/>
            <a:ext cx="11094470" cy="5760756"/>
            <a:chOff x="548640" y="548640"/>
            <a:chExt cx="11094470" cy="5760756"/>
          </a:xfrm>
        </p:grpSpPr>
        <p:sp>
          <p:nvSpPr>
            <p:cNvPr id="737" name="Google Shape;737;p22"/>
            <p:cNvSpPr/>
            <p:nvPr/>
          </p:nvSpPr>
          <p:spPr>
            <a:xfrm>
              <a:off x="548640" y="548640"/>
              <a:ext cx="502800" cy="54900"/>
            </a:xfrm>
            <a:prstGeom prst="rect">
              <a:avLst/>
            </a:prstGeom>
            <a:solidFill>
              <a:srgbClr val="12D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548640" y="548640"/>
              <a:ext cx="54900" cy="502800"/>
            </a:xfrm>
            <a:prstGeom prst="rect">
              <a:avLst/>
            </a:prstGeom>
            <a:solidFill>
              <a:srgbClr val="12D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11140154" y="548640"/>
              <a:ext cx="502800" cy="54900"/>
            </a:xfrm>
            <a:prstGeom prst="rect">
              <a:avLst/>
            </a:prstGeom>
            <a:solidFill>
              <a:srgbClr val="12D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2"/>
            <p:cNvSpPr/>
            <p:nvPr/>
          </p:nvSpPr>
          <p:spPr>
            <a:xfrm>
              <a:off x="11588210" y="548640"/>
              <a:ext cx="54900" cy="502800"/>
            </a:xfrm>
            <a:prstGeom prst="rect">
              <a:avLst/>
            </a:prstGeom>
            <a:solidFill>
              <a:srgbClr val="12D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2"/>
            <p:cNvSpPr/>
            <p:nvPr/>
          </p:nvSpPr>
          <p:spPr>
            <a:xfrm>
              <a:off x="548640" y="6254496"/>
              <a:ext cx="502800" cy="54900"/>
            </a:xfrm>
            <a:prstGeom prst="rect">
              <a:avLst/>
            </a:prstGeom>
            <a:solidFill>
              <a:srgbClr val="12D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2"/>
            <p:cNvSpPr/>
            <p:nvPr/>
          </p:nvSpPr>
          <p:spPr>
            <a:xfrm>
              <a:off x="548640" y="5806440"/>
              <a:ext cx="54900" cy="502800"/>
            </a:xfrm>
            <a:prstGeom prst="rect">
              <a:avLst/>
            </a:prstGeom>
            <a:solidFill>
              <a:srgbClr val="12D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2"/>
            <p:cNvSpPr/>
            <p:nvPr/>
          </p:nvSpPr>
          <p:spPr>
            <a:xfrm>
              <a:off x="11140154" y="6254496"/>
              <a:ext cx="502800" cy="54900"/>
            </a:xfrm>
            <a:prstGeom prst="rect">
              <a:avLst/>
            </a:prstGeom>
            <a:solidFill>
              <a:srgbClr val="12D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2"/>
            <p:cNvSpPr/>
            <p:nvPr/>
          </p:nvSpPr>
          <p:spPr>
            <a:xfrm>
              <a:off x="11588210" y="5806440"/>
              <a:ext cx="54900" cy="502800"/>
            </a:xfrm>
            <a:prstGeom prst="rect">
              <a:avLst/>
            </a:prstGeom>
            <a:solidFill>
              <a:srgbClr val="12D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5" name="Google Shape;745;p22"/>
          <p:cNvSpPr txBox="1"/>
          <p:nvPr/>
        </p:nvSpPr>
        <p:spPr>
          <a:xfrm>
            <a:off x="1097280" y="1524000"/>
            <a:ext cx="571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2D66E"/>
                </a:solidFill>
                <a:latin typeface="Arial"/>
                <a:ea typeface="Arial"/>
                <a:cs typeface="Arial"/>
                <a:sym typeface="Arial"/>
              </a:rPr>
              <a:t>LET'S CONNECT</a:t>
            </a:r>
            <a:endParaRPr b="1" sz="1400">
              <a:solidFill>
                <a:srgbClr val="12D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2"/>
          <p:cNvSpPr txBox="1"/>
          <p:nvPr/>
        </p:nvSpPr>
        <p:spPr>
          <a:xfrm>
            <a:off x="1078992" y="2000250"/>
            <a:ext cx="571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Stay in Touch.</a:t>
            </a:r>
            <a:endParaRPr b="1" sz="4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2"/>
          <p:cNvSpPr txBox="1"/>
          <p:nvPr/>
        </p:nvSpPr>
        <p:spPr>
          <a:xfrm>
            <a:off x="1097280" y="3048000"/>
            <a:ext cx="5238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CBE9D8"/>
                </a:solidFill>
                <a:latin typeface="Calibri"/>
                <a:ea typeface="Calibri"/>
                <a:cs typeface="Calibri"/>
                <a:sym typeface="Calibri"/>
              </a:rPr>
              <a:t>Scan the QR code to connect on professional platforms, explore the repository, or discuss computer vision developments and potential collaborations.</a:t>
            </a:r>
            <a:endParaRPr b="0" sz="1600">
              <a:solidFill>
                <a:srgbClr val="CBE9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8" name="Google Shape;7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29475" y="1704975"/>
            <a:ext cx="3829200" cy="325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9" name="Google Shape;749;p22"/>
          <p:cNvGrpSpPr/>
          <p:nvPr/>
        </p:nvGrpSpPr>
        <p:grpSpPr>
          <a:xfrm>
            <a:off x="8191500" y="2095500"/>
            <a:ext cx="1905000" cy="1905000"/>
            <a:chOff x="8191500" y="2095500"/>
            <a:chExt cx="1905000" cy="1905000"/>
          </a:xfrm>
        </p:grpSpPr>
        <p:sp>
          <p:nvSpPr>
            <p:cNvPr id="750" name="Google Shape;750;p22"/>
            <p:cNvSpPr/>
            <p:nvPr/>
          </p:nvSpPr>
          <p:spPr>
            <a:xfrm>
              <a:off x="8191500" y="2095500"/>
              <a:ext cx="19050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2"/>
            <p:cNvSpPr/>
            <p:nvPr/>
          </p:nvSpPr>
          <p:spPr>
            <a:xfrm>
              <a:off x="8477250" y="2381250"/>
              <a:ext cx="190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2"/>
            <p:cNvSpPr/>
            <p:nvPr/>
          </p:nvSpPr>
          <p:spPr>
            <a:xfrm>
              <a:off x="9429750" y="2381250"/>
              <a:ext cx="190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2"/>
            <p:cNvSpPr/>
            <p:nvPr/>
          </p:nvSpPr>
          <p:spPr>
            <a:xfrm>
              <a:off x="8477250" y="3333750"/>
              <a:ext cx="190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4" name="Google Shape;754;p22"/>
          <p:cNvSpPr/>
          <p:nvPr/>
        </p:nvSpPr>
        <p:spPr>
          <a:xfrm>
            <a:off x="7620000" y="4191000"/>
            <a:ext cx="3048000" cy="533400"/>
          </a:xfrm>
          <a:prstGeom prst="roundRect">
            <a:avLst>
              <a:gd fmla="val 50000" name="adj"/>
            </a:avLst>
          </a:prstGeom>
          <a:solidFill>
            <a:srgbClr val="111827"/>
          </a:solidFill>
          <a:ln cap="flat" cmpd="sng" w="14300">
            <a:solidFill>
              <a:srgbClr val="00B4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2"/>
          <p:cNvSpPr txBox="1"/>
          <p:nvPr/>
        </p:nvSpPr>
        <p:spPr>
          <a:xfrm>
            <a:off x="7620000" y="4191000"/>
            <a:ext cx="304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Scan to Connect</a:t>
            </a:r>
            <a:endParaRPr b="1" sz="15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6" name="Google Shape;756;p22"/>
          <p:cNvSpPr txBox="1"/>
          <p:nvPr/>
        </p:nvSpPr>
        <p:spPr>
          <a:xfrm>
            <a:off x="7239000" y="5048250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2"/>
          <p:cNvSpPr txBox="1"/>
          <p:nvPr/>
        </p:nvSpPr>
        <p:spPr>
          <a:xfrm>
            <a:off x="640080" y="640080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VisionBox</a:t>
            </a:r>
            <a:endParaRPr b="1" sz="1000">
              <a:solidFill>
                <a:srgbClr val="64748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8" name="Google Shape;758;p22" title="rahul_p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83313" y="2307533"/>
            <a:ext cx="1521375" cy="15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